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0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C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DE CASES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503920" y="656539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• Excel • Automação operacional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23444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CASES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04088" y="3154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equilibrada, acompanhamento operacional e visão gerencial em Excel.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13232" y="41605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8AAFFF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4224528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3.10+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2249424" y="4160520"/>
            <a:ext cx="1207008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73DEC9">
                <a:alpha val="6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22576" y="4224528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/ XLSM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3575304" y="416052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F5CB83">
                <a:alpha val="6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4224528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+ VBA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713232" y="57150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Pablo Santos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601675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automação operacional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29400" y="1143000"/>
            <a:ext cx="4434840" cy="4434840"/>
          </a:xfrm>
          <a:prstGeom prst="roundRect">
            <a:avLst>
              <a:gd name="adj" fmla="val 1649"/>
            </a:avLst>
          </a:prstGeom>
          <a:solidFill>
            <a:srgbClr val="142230"/>
          </a:solidFill>
          <a:ln w="15240">
            <a:solidFill>
              <a:srgbClr val="2A3A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14447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DO DIA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95160" y="1901952"/>
            <a:ext cx="1133856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202996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DISTRIBUÍDOS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141464" y="221284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75320" y="1901952"/>
            <a:ext cx="1133856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21624" y="202996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421624" y="221284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555480" y="1901952"/>
            <a:ext cx="1133856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01784" y="2029968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ABERTOS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701784" y="221284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22592" y="315468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7772400" y="3163824"/>
            <a:ext cx="2423160" cy="155448"/>
          </a:xfrm>
          <a:prstGeom prst="roundRect">
            <a:avLst>
              <a:gd name="adj" fmla="val 3529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3163824"/>
            <a:ext cx="1514475" cy="155448"/>
          </a:xfrm>
          <a:prstGeom prst="roundRect">
            <a:avLst>
              <a:gd name="adj" fmla="val 3529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77856" y="314553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5/8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022592" y="35478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772400" y="3557016"/>
            <a:ext cx="2423160" cy="155448"/>
          </a:xfrm>
          <a:prstGeom prst="roundRect">
            <a:avLst>
              <a:gd name="adj" fmla="val 3529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3557016"/>
            <a:ext cx="1211580" cy="155448"/>
          </a:xfrm>
          <a:prstGeom prst="roundRect">
            <a:avLst>
              <a:gd name="adj" fmla="val 3529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77856" y="35387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022592" y="39410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7772400" y="3950208"/>
            <a:ext cx="2423160" cy="155448"/>
          </a:xfrm>
          <a:prstGeom prst="roundRect">
            <a:avLst>
              <a:gd name="adj" fmla="val 3529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0" y="3950208"/>
            <a:ext cx="1211580" cy="155448"/>
          </a:xfrm>
          <a:prstGeom prst="roundRect">
            <a:avLst>
              <a:gd name="adj" fmla="val 3529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77856" y="393192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022592" y="433425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Diego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7772400" y="4343400"/>
            <a:ext cx="2423160" cy="155448"/>
          </a:xfrm>
          <a:prstGeom prst="roundRect">
            <a:avLst>
              <a:gd name="adj" fmla="val 3529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0" y="4343400"/>
            <a:ext cx="1211580" cy="155448"/>
          </a:xfrm>
          <a:prstGeom prst="roundRect">
            <a:avLst>
              <a:gd name="adj" fmla="val 3529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7856" y="432511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022592" y="47274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Elisa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7772400" y="4736592"/>
            <a:ext cx="2423160" cy="155448"/>
          </a:xfrm>
          <a:prstGeom prst="roundRect">
            <a:avLst>
              <a:gd name="adj" fmla="val 3529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0" y="4736592"/>
            <a:ext cx="908685" cy="155448"/>
          </a:xfrm>
          <a:prstGeom prst="roundRect">
            <a:avLst>
              <a:gd name="adj" fmla="val 3529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77856" y="47183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3/8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95160" y="52395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visual com dados fictícios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essa ferramenta existe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 uma base operacional em uma fila organizada, distribuída e acompanhável.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50292" cy="2377440"/>
          </a:xfrm>
          <a:prstGeom prst="rect">
            <a:avLst/>
          </a:prstGeom>
          <a:solidFill>
            <a:srgbClr val="F08B8B"/>
          </a:solidFill>
          <a:ln w="12700">
            <a:solidFill>
              <a:srgbClr val="F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0391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441448"/>
            <a:ext cx="3044952" cy="1664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manual, pouca padronização, dificuldade para enxergar volume por responsável e ausência de uma visão consolidada do andamento.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4370832" y="18745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70832" y="1874520"/>
            <a:ext cx="50292" cy="2377440"/>
          </a:xfrm>
          <a:prstGeom prst="rect">
            <a:avLst/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0391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ferramenta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41448"/>
            <a:ext cx="3044952" cy="1664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é validada, organizada por abertura e distribuída automaticamente de forma alternada entre os responsáveis.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8101584" y="18745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1874520"/>
            <a:ext cx="50292" cy="2377440"/>
          </a:xfrm>
          <a:prstGeom prst="rect">
            <a:avLst/>
          </a:prstGeom>
          <a:solidFill>
            <a:srgbClr val="8AAFFF"/>
          </a:solidFill>
          <a:ln w="12700">
            <a:solidFill>
              <a:srgbClr val="8AA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203911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02752" y="2441448"/>
            <a:ext cx="3044952" cy="1664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tracking única com status, observações, dashboard gerencial, alertas de preenchimento e geração de PDF.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658368" y="4709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 da versão atual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50749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ferramenta organiza e acompanha o trabalho. As decisões e atualizações operacionais continuam sendo realizadas pela equipe.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da ferramenta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base .xlsx ao acompanhamento gerencial.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8745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208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.XLSX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com case e datas.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3447288" y="18745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0208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11880" y="2331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1188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Campos, datas e duplicidade.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6236208" y="18745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0208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ESPERA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 fora da distribuição atual.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025128" y="18745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20208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89720" y="2331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ORDENAÇÃO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8972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antigos primeiro.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58368" y="39319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0782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389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" y="4736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Alternância equilibrada.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3447288" y="39319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0782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11880" y="4389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.XLSM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11880" y="4736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+ Resumo + Gestor.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236208" y="3931920"/>
            <a:ext cx="2404872" cy="1325880"/>
          </a:xfrm>
          <a:prstGeom prst="roundRect">
            <a:avLst>
              <a:gd name="adj" fmla="val 4828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0782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4389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0" y="4736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sob demanda.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685800" y="6053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distribuição é local e não depende de integrações externas.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distribuição funciona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simples, previsível e fácil de auditar.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2834640" cy="3474720"/>
          </a:xfrm>
          <a:prstGeom prst="roundRect">
            <a:avLst>
              <a:gd name="adj" fmla="val 2581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28800"/>
            <a:ext cx="50292" cy="3474720"/>
          </a:xfrm>
          <a:prstGeom prst="rect">
            <a:avLst/>
          </a:prstGeom>
          <a:solidFill>
            <a:srgbClr val="8AAFFF"/>
          </a:solidFill>
          <a:ln w="12700">
            <a:solidFill>
              <a:srgbClr val="8AA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93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Ordenar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9536" y="2395728"/>
            <a:ext cx="2450592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cases são ordenados por DATA DE ABERTURA, do mais antigo para o mais recente. Em empates, a ordem original da base é preservada.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3767328" y="1828800"/>
            <a:ext cx="2834640" cy="3474720"/>
          </a:xfrm>
          <a:prstGeom prst="roundRect">
            <a:avLst>
              <a:gd name="adj" fmla="val 2581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67328" y="1828800"/>
            <a:ext cx="50292" cy="3474720"/>
          </a:xfrm>
          <a:prstGeom prst="rect">
            <a:avLst/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68496" y="1993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Alternar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68496" y="2395728"/>
            <a:ext cx="2450592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case vai para o primeiro responsável, o segundo para o segundo e assim por diante. Ao chegar ao último nome, a sequência recomeça.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876288" y="1828800"/>
            <a:ext cx="2834640" cy="3474720"/>
          </a:xfrm>
          <a:prstGeom prst="roundRect">
            <a:avLst>
              <a:gd name="adj" fmla="val 2581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76288" y="1828800"/>
            <a:ext cx="50292" cy="3474720"/>
          </a:xfrm>
          <a:prstGeom prst="rect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77456" y="1993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Equilibrar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77456" y="2395728"/>
            <a:ext cx="2450592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inicial de quantidade entre os responsáveis é de, no máximo, um case.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0012680" y="1828800"/>
            <a:ext cx="1517904" cy="3474720"/>
          </a:xfrm>
          <a:prstGeom prst="roundRect">
            <a:avLst>
              <a:gd name="adj" fmla="val 3614"/>
            </a:avLst>
          </a:prstGeom>
          <a:solidFill>
            <a:srgbClr val="142230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95560" y="20574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25146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3888" y="25146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195560" y="290779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33888" y="290779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195560" y="330098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3888" y="33009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195560" y="369417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33888" y="36941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195560" y="4087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33888" y="40873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19556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533888" y="44805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" y="5806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Equilibra quantidade, não complexidade.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tracking operacional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colunas para acompanhar o trabalho sem complicar o arquivo.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1C2938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47672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880360" y="1947672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58368" y="2350008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243447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68880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ABERTURA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880360" y="2468880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2871216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1C2938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990088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MODIFICAÇÃO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880360" y="2990088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da 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392424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243447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511296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80360" y="3511296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 atual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8368" y="3913632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1C2938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32504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4032504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4434840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243447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553712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80360" y="4553712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/ escalonamento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" y="4956048"/>
            <a:ext cx="5212080" cy="457200"/>
          </a:xfrm>
          <a:prstGeom prst="roundRect">
            <a:avLst>
              <a:gd name="adj" fmla="val 8000"/>
            </a:avLst>
          </a:prstGeom>
          <a:solidFill>
            <a:srgbClr val="1C2938"/>
          </a:solidFill>
          <a:ln w="7620">
            <a:solidFill>
              <a:srgbClr val="2B3B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5074920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80360" y="5074920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atribuída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465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disponíveis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46520" y="2331720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A9BACB">
                <a:alpha val="6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2395728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6446520" y="2834640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8AAFFF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2898648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446520" y="3337560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73DEC9">
                <a:alpha val="6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9672" y="3401568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6446520" y="3840480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F5CB83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19672" y="3904488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depois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6446520" y="4343400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C6ACFA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9672" y="4407408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8732520" y="2331720"/>
            <a:ext cx="2514600" cy="2487168"/>
          </a:xfrm>
          <a:prstGeom prst="roundRect">
            <a:avLst>
              <a:gd name="adj" fmla="val 2206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42832" y="25786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ESCALONAMENTO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942832" y="297180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usar “Escalado”, registre em OBSERVAÇÃO para quem o case foi direcionado e o contexto necessário.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942832" y="4069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Ex.: Escalado para: Equipe Financeira — aguardando retorno.</a:t>
            </a:r>
            <a:endParaRPr lang="en-US" sz="830" dirty="0"/>
          </a:p>
        </p:txBody>
      </p:sp>
      <p:sp>
        <p:nvSpPr>
          <p:cNvPr id="40" name="Text 38"/>
          <p:cNvSpPr/>
          <p:nvPr/>
        </p:nvSpPr>
        <p:spPr>
          <a:xfrm>
            <a:off x="6446520" y="5330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abertos = distribuídos − concluídos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do gestor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rápidos para acompanhar a operação e identificar inconsistências.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635240" cy="4434840"/>
          </a:xfrm>
          <a:prstGeom prst="roundRect">
            <a:avLst>
              <a:gd name="adj" fmla="val 1237"/>
            </a:avLst>
          </a:prstGeom>
          <a:solidFill>
            <a:srgbClr val="142230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da operação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205740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243447"/>
          </a:solidFill>
          <a:ln w="12700">
            <a:solidFill>
              <a:srgbClr val="73DEC9">
                <a:alpha val="6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91072" y="2121408"/>
            <a:ext cx="1362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equipe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960120" y="26974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6424" y="2825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DISTRIBUÍDOS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6424" y="30083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542032" y="26974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88336" y="2825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688336" y="30083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23944" y="26974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48" y="2825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270248" y="30083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705856" y="269748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825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852160" y="30083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0120" y="388620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Pendentes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960120" y="40965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542032" y="388620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Andamento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2542032" y="40965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123944" y="388620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4123944" y="40965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705856" y="388620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Escalados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5705856" y="40965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0120" y="46634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por responsável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0120" y="501091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572768" y="5020056"/>
            <a:ext cx="4297680" cy="128016"/>
          </a:xfrm>
          <a:prstGeom prst="roundRect">
            <a:avLst>
              <a:gd name="adj" fmla="val 3571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2768" y="5020056"/>
            <a:ext cx="2686050" cy="128016"/>
          </a:xfrm>
          <a:prstGeom prst="roundRect">
            <a:avLst>
              <a:gd name="adj" fmla="val 3571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500176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5/8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960120" y="5257800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1572768" y="5266944"/>
            <a:ext cx="4297680" cy="128016"/>
          </a:xfrm>
          <a:prstGeom prst="roundRect">
            <a:avLst>
              <a:gd name="adj" fmla="val 3571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72768" y="5266944"/>
            <a:ext cx="2148840" cy="128016"/>
          </a:xfrm>
          <a:prstGeom prst="roundRect">
            <a:avLst>
              <a:gd name="adj" fmla="val 3571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89320" y="524865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960120" y="5504688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1572768" y="5513832"/>
            <a:ext cx="4297680" cy="128016"/>
          </a:xfrm>
          <a:prstGeom prst="roundRect">
            <a:avLst>
              <a:gd name="adj" fmla="val 3571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72768" y="5513832"/>
            <a:ext cx="2148840" cy="128016"/>
          </a:xfrm>
          <a:prstGeom prst="roundRect">
            <a:avLst>
              <a:gd name="adj" fmla="val 3571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54955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960120" y="5751576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Diego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1572768" y="5760720"/>
            <a:ext cx="4297680" cy="128016"/>
          </a:xfrm>
          <a:prstGeom prst="roundRect">
            <a:avLst>
              <a:gd name="adj" fmla="val 3571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72768" y="5760720"/>
            <a:ext cx="2148840" cy="128016"/>
          </a:xfrm>
          <a:prstGeom prst="roundRect">
            <a:avLst>
              <a:gd name="adj" fmla="val 3571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89320" y="574243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4/8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960120" y="5998464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Elisa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1572768" y="6007608"/>
            <a:ext cx="4297680" cy="128016"/>
          </a:xfrm>
          <a:prstGeom prst="roundRect">
            <a:avLst>
              <a:gd name="adj" fmla="val 35714"/>
            </a:avLst>
          </a:prstGeom>
          <a:solidFill>
            <a:srgbClr val="25374A"/>
          </a:solidFill>
          <a:ln w="12700">
            <a:solidFill>
              <a:srgbClr val="2537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72768" y="6007608"/>
            <a:ext cx="1611630" cy="128016"/>
          </a:xfrm>
          <a:prstGeom prst="roundRect">
            <a:avLst>
              <a:gd name="adj" fmla="val 35714"/>
            </a:avLst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89320" y="598932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3/8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8549640" y="1783080"/>
            <a:ext cx="2971800" cy="1280160"/>
          </a:xfrm>
          <a:prstGeom prst="roundRect">
            <a:avLst>
              <a:gd name="adj" fmla="val 5714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49640" y="1783080"/>
            <a:ext cx="50292" cy="1280160"/>
          </a:xfrm>
          <a:prstGeom prst="rect">
            <a:avLst/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50808" y="19476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750808" y="2350008"/>
            <a:ext cx="25877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toda a equipe ou um responsável específico.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8549640" y="3246120"/>
            <a:ext cx="2971800" cy="1280160"/>
          </a:xfrm>
          <a:prstGeom prst="roundRect">
            <a:avLst>
              <a:gd name="adj" fmla="val 5714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49640" y="3246120"/>
            <a:ext cx="50292" cy="1280160"/>
          </a:xfrm>
          <a:prstGeom prst="rect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50808" y="3410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50808" y="3813048"/>
            <a:ext cx="25877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inválido, escalado sem observação e responsável não cadastrado.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8549640" y="4709160"/>
            <a:ext cx="2971800" cy="1280160"/>
          </a:xfrm>
          <a:prstGeom prst="roundRect">
            <a:avLst>
              <a:gd name="adj" fmla="val 5714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49640" y="4709160"/>
            <a:ext cx="50292" cy="1280160"/>
          </a:xfrm>
          <a:prstGeom prst="rect">
            <a:avLst/>
          </a:prstGeom>
          <a:solidFill>
            <a:srgbClr val="8AAFFF"/>
          </a:solidFill>
          <a:ln w="12700">
            <a:solidFill>
              <a:srgbClr val="8AA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50808" y="48737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rápida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750808" y="5276088"/>
            <a:ext cx="25877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Volume, conclusão, fila aberta e caso mais antigo em um único painel.</a:t>
            </a:r>
            <a:endParaRPr lang="en-US" sz="9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e uso compartilhado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ferramenta gera o arquivo local; o armazenamento e a coautoria ficam sob controle do ambiente utilizado.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28800"/>
            <a:ext cx="50292" cy="2057400"/>
          </a:xfrm>
          <a:prstGeom prst="rect">
            <a:avLst/>
          </a:prstGeom>
          <a:solidFill>
            <a:srgbClr val="73DEC9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93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pelo Excel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9536" y="2395728"/>
            <a:ext cx="304495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Gestor, selecione a visão desejada e clique em GERAR RESUMO PDF. O botão usa VBA e requer o Excel instalado.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4370832" y="182880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70832" y="1828800"/>
            <a:ext cx="50292" cy="2057400"/>
          </a:xfrm>
          <a:prstGeom prst="rect">
            <a:avLst/>
          </a:prstGeom>
          <a:solidFill>
            <a:srgbClr val="8AAFFF"/>
          </a:solidFill>
          <a:ln w="12700">
            <a:solidFill>
              <a:srgbClr val="8AA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993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em Python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395728"/>
            <a:ext cx="304495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Gerar_PDF.bat lê uma tracking salva e cria um relatório consolidado sem depender do botão VBA.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1C2938"/>
          </a:solidFill>
          <a:ln w="12700">
            <a:solidFill>
              <a:srgbClr val="2B3B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3296" y="1828800"/>
            <a:ext cx="50292" cy="2057400"/>
          </a:xfrm>
          <a:prstGeom prst="rect">
            <a:avLst/>
          </a:prstGeom>
          <a:solidFill>
            <a:srgbClr val="C6ACFA"/>
          </a:solidFill>
          <a:ln w="12700">
            <a:solidFill>
              <a:srgbClr val="C6AC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4464" y="1993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Coautoria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84464" y="2395728"/>
            <a:ext cx="304495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pode ser colocado em uma solução compatível com edição colaborativa. Todos devem trabalhar sobre o mesmo arquivo.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65836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ferramenta não: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" y="4864608"/>
            <a:ext cx="100584" cy="100584"/>
          </a:xfrm>
          <a:prstGeom prst="ellipse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480060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login ou autenticação em serviços externos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58368" y="5257800"/>
            <a:ext cx="100584" cy="100584"/>
          </a:xfrm>
          <a:prstGeom prst="ellipse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519379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 arquivos automaticamente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6035040" y="4864608"/>
            <a:ext cx="100584" cy="100584"/>
          </a:xfrm>
          <a:prstGeom prst="ellipse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480060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permissões de acesso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6035040" y="5257800"/>
            <a:ext cx="100584" cy="100584"/>
          </a:xfrm>
          <a:prstGeom prst="ellipse">
            <a:avLst/>
          </a:prstGeom>
          <a:solidFill>
            <a:srgbClr val="F5CB83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51937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sincroniza diretamente com outros sistemas</a:t>
            </a:r>
            <a:endParaRPr lang="en-US" sz="10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675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e limites atuais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85216" y="12527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simples, local e transparente.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1C2938"/>
          </a:solidFill>
          <a:ln w="15240">
            <a:solidFill>
              <a:srgbClr val="8AA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3911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240280" y="20299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.xlsx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2816352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1C2938"/>
          </a:solidFill>
          <a:ln w="15240">
            <a:solidFill>
              <a:srgbClr val="73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8094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40280" y="29718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openpyxl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758184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1C2938"/>
          </a:solidFill>
          <a:ln w="15240">
            <a:solidFill>
              <a:srgbClr val="C6AC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922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240280" y="39136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.xlsm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700016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1C2938"/>
          </a:solidFill>
          <a:ln w="15240">
            <a:solidFill>
              <a:srgbClr val="F5CB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86460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40280" y="485546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+ PDF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893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atuais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2395728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0488" y="233172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autenticação por responsável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989320" y="2880360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2816352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controle de acesso por linha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989320" y="3364992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330098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registro automático de início e pausa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989320" y="3849624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90488" y="3785616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cálculo automático de tempo de tratamento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989320" y="4334256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0488" y="4270248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sincronização direta com sistemas externos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989320" y="4818888"/>
            <a:ext cx="100584" cy="100584"/>
          </a:xfrm>
          <a:prstGeom prst="ellipse">
            <a:avLst/>
          </a:prstGeom>
          <a:solidFill>
            <a:srgbClr val="A9BACB"/>
          </a:solidFill>
          <a:ln w="12700">
            <a:solidFill>
              <a:srgbClr val="A9BAC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475488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execução agendada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5989320" y="5440680"/>
            <a:ext cx="4892040" cy="621792"/>
          </a:xfrm>
          <a:prstGeom prst="roundRect">
            <a:avLst>
              <a:gd name="adj" fmla="val 7353"/>
            </a:avLst>
          </a:prstGeom>
          <a:solidFill>
            <a:srgbClr val="18352F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564184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atual: distribuição, tracking e visão gerencial.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DE CASES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49808" y="21488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base organizada. Uma distribuição previsível. Uma visão clara do trabalho.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49808" y="30632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Excel para reduzir organização manual sem esconder a lógica da operação.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49808" y="406908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1C2938"/>
          </a:solidFill>
          <a:ln w="12700">
            <a:solidFill>
              <a:srgbClr val="8AA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A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6451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antigos primeiro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3401568" y="406908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1C2938"/>
          </a:solidFill>
          <a:ln w="12700">
            <a:solidFill>
              <a:srgbClr val="73DE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3D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46451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e observações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053328" y="406908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1C2938"/>
          </a:solidFill>
          <a:ln w="12700">
            <a:solidFill>
              <a:srgbClr val="C6AC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A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17920" y="46451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gerencial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705088" y="4069080"/>
            <a:ext cx="2423160" cy="1097280"/>
          </a:xfrm>
          <a:prstGeom prst="roundRect">
            <a:avLst>
              <a:gd name="adj" fmla="val 5000"/>
            </a:avLst>
          </a:prstGeom>
          <a:solidFill>
            <a:srgbClr val="1C2938"/>
          </a:solidFill>
          <a:ln w="12700">
            <a:solidFill>
              <a:srgbClr val="F5CB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B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9680" y="46451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sob demanda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749808" y="59893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Pablo Santos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749808" y="62636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6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Prabovn7/Ferramenta-de-tracking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25603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186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Projeto pessoal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Tracking de Cases</dc:title>
  <dc:subject>Apresentação do Tracking de Cases</dc:subject>
  <dc:creator>Pablo Santos</dc:creator>
  <cp:lastModifiedBy>Pablo Santos</cp:lastModifiedBy>
  <cp:revision>1</cp:revision>
  <dcterms:created xsi:type="dcterms:W3CDTF">2026-10-03T03:17:28Z</dcterms:created>
  <dcterms:modified xsi:type="dcterms:W3CDTF">2026-10-03T03:17:28Z</dcterms:modified>
</cp:coreProperties>
</file>