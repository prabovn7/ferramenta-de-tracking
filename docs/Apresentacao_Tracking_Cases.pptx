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7958dfdb5421d" /><Relationship Type="http://schemas.openxmlformats.org/officeDocument/2006/relationships/extended-properties" Target="/docProps/app.xml" Id="R6f21194664b7489f" /><Relationship Type="http://schemas.openxmlformats.org/officeDocument/2006/relationships/officeDocument" Target="/ppt/presentation.xml" Id="R81a2c178bafc4e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229e7b41949dc"/>
  </p:sldMasterIdLst>
  <p:notesMasterIdLst>
    <p:notesMasterId xmlns:r="http://schemas.openxmlformats.org/officeDocument/2006/relationships" r:id="R1ead8ed6ea614814"/>
  </p:notesMasterIdLst>
  <p:sldIdLst>
    <p:sldId xmlns:r="http://schemas.openxmlformats.org/officeDocument/2006/relationships" id="256" r:id="Ra20863aabb01478b"/>
    <p:sldId xmlns:r="http://schemas.openxmlformats.org/officeDocument/2006/relationships" id="257" r:id="R43d14a6746ff4a1e"/>
    <p:sldId xmlns:r="http://schemas.openxmlformats.org/officeDocument/2006/relationships" id="258" r:id="R95da0e7359cd4fab"/>
    <p:sldId xmlns:r="http://schemas.openxmlformats.org/officeDocument/2006/relationships" id="259" r:id="R996db50b9e3c44a8"/>
    <p:sldId xmlns:r="http://schemas.openxmlformats.org/officeDocument/2006/relationships" id="260" r:id="R245e5b20292240ca"/>
    <p:sldId xmlns:r="http://schemas.openxmlformats.org/officeDocument/2006/relationships" id="261" r:id="R12c046fcb12445ed"/>
    <p:sldId xmlns:r="http://schemas.openxmlformats.org/officeDocument/2006/relationships" id="262" r:id="R20c5111c6f7644c5"/>
    <p:sldId xmlns:r="http://schemas.openxmlformats.org/officeDocument/2006/relationships" id="263" r:id="R6ca64735b36f4c61"/>
    <p:sldId xmlns:r="http://schemas.openxmlformats.org/officeDocument/2006/relationships" id="264" r:id="R1c18e8d281394080"/>
    <p:sldId xmlns:r="http://schemas.openxmlformats.org/officeDocument/2006/relationships" id="265" r:id="Rfc7a0b78701c422f"/>
    <p:sldId xmlns:r="http://schemas.openxmlformats.org/officeDocument/2006/relationships" id="266" r:id="R48497eea9cde4ad7"/>
    <p:sldId xmlns:r="http://schemas.openxmlformats.org/officeDocument/2006/relationships" id="267" r:id="Rd0c3567d95754853"/>
    <p:sldId xmlns:r="http://schemas.openxmlformats.org/officeDocument/2006/relationships" id="268" r:id="Rd54cf9dec0494e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52cb79f9b24dd0" /><Relationship Type="http://schemas.openxmlformats.org/officeDocument/2006/relationships/slideMaster" Target="/ppt/slideMasters/slideMaster1.xml" Id="R85c229e7b41949dc" /><Relationship Type="http://schemas.openxmlformats.org/officeDocument/2006/relationships/notesMaster" Target="/ppt/notesMasters/notesMaster1.xml" Id="R1ead8ed6ea614814" /><Relationship Type="http://schemas.openxmlformats.org/officeDocument/2006/relationships/presProps" Target="/ppt/presProps.xml" Id="Rd553fa72842f43b7" /><Relationship Type="http://schemas.openxmlformats.org/officeDocument/2006/relationships/tableStyles" Target="/ppt/tableStyles.xml" Id="Rd8f2e848b2ff409c" /><Relationship Type="http://schemas.openxmlformats.org/officeDocument/2006/relationships/slide" Target="/ppt/slides/slide1.xml" Id="Ra20863aabb01478b" /><Relationship Type="http://schemas.openxmlformats.org/officeDocument/2006/relationships/slide" Target="/ppt/slides/slide2.xml" Id="R43d14a6746ff4a1e" /><Relationship Type="http://schemas.openxmlformats.org/officeDocument/2006/relationships/slide" Target="/ppt/slides/slide3.xml" Id="R95da0e7359cd4fab" /><Relationship Type="http://schemas.openxmlformats.org/officeDocument/2006/relationships/slide" Target="/ppt/slides/slide4.xml" Id="R996db50b9e3c44a8" /><Relationship Type="http://schemas.openxmlformats.org/officeDocument/2006/relationships/slide" Target="/ppt/slides/slide5.xml" Id="R245e5b20292240ca" /><Relationship Type="http://schemas.openxmlformats.org/officeDocument/2006/relationships/slide" Target="/ppt/slides/slide6.xml" Id="R12c046fcb12445ed" /><Relationship Type="http://schemas.openxmlformats.org/officeDocument/2006/relationships/slide" Target="/ppt/slides/slide7.xml" Id="R20c5111c6f7644c5" /><Relationship Type="http://schemas.openxmlformats.org/officeDocument/2006/relationships/slide" Target="/ppt/slides/slide8.xml" Id="R6ca64735b36f4c61" /><Relationship Type="http://schemas.openxmlformats.org/officeDocument/2006/relationships/slide" Target="/ppt/slides/slide9.xml" Id="R1c18e8d281394080" /><Relationship Type="http://schemas.openxmlformats.org/officeDocument/2006/relationships/slide" Target="/ppt/slides/slide10.xml" Id="Rfc7a0b78701c422f" /><Relationship Type="http://schemas.openxmlformats.org/officeDocument/2006/relationships/slide" Target="/ppt/slides/slide11.xml" Id="R48497eea9cde4ad7" /><Relationship Type="http://schemas.openxmlformats.org/officeDocument/2006/relationships/slide" Target="/ppt/slides/slide12.xml" Id="Rd0c3567d95754853" /><Relationship Type="http://schemas.openxmlformats.org/officeDocument/2006/relationships/slide" Target="/ppt/slides/slide13.xml" Id="Rd54cf9dec0494e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aaa93bd9445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6807aca8904a9f" /><Relationship Type="http://schemas.openxmlformats.org/officeDocument/2006/relationships/notesMaster" Target="/ppt/notesMasters/notesMaster1.xml" Id="Rbafdda52e63549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8e39b45f4a4163" /><Relationship Type="http://schemas.openxmlformats.org/officeDocument/2006/relationships/notesMaster" Target="/ppt/notesMasters/notesMaster1.xml" Id="R7ccf6a45e67e4d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aa40663a5d472a" /><Relationship Type="http://schemas.openxmlformats.org/officeDocument/2006/relationships/notesMaster" Target="/ppt/notesMasters/notesMaster1.xml" Id="Rfa0d3bbfec04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79be72b99c4bea" /><Relationship Type="http://schemas.openxmlformats.org/officeDocument/2006/relationships/notesMaster" Target="/ppt/notesMasters/notesMaster1.xml" Id="R6987208d31e344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29ab29eb5749b1" /><Relationship Type="http://schemas.openxmlformats.org/officeDocument/2006/relationships/notesMaster" Target="/ppt/notesMasters/notesMaster1.xml" Id="Rdbed6dc656f940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8e28f962a4ca4" /><Relationship Type="http://schemas.openxmlformats.org/officeDocument/2006/relationships/notesMaster" Target="/ppt/notesMasters/notesMaster1.xml" Id="Rb31bf2a719064c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24ec3267fd4d70" /><Relationship Type="http://schemas.openxmlformats.org/officeDocument/2006/relationships/notesMaster" Target="/ppt/notesMasters/notesMaster1.xml" Id="R4cf3c1e226ac48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03ca7c5d4643c9" /><Relationship Type="http://schemas.openxmlformats.org/officeDocument/2006/relationships/notesMaster" Target="/ppt/notesMasters/notesMaster1.xml" Id="Ra53afbadb8904a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0458c7fe414310" /><Relationship Type="http://schemas.openxmlformats.org/officeDocument/2006/relationships/notesMaster" Target="/ppt/notesMasters/notesMaster1.xml" Id="R67ccf11e5dbc4d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b8bb8757ef4759" /><Relationship Type="http://schemas.openxmlformats.org/officeDocument/2006/relationships/notesMaster" Target="/ppt/notesMasters/notesMaster1.xml" Id="R191c19f0f5b846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95ad6b55dd4962" /><Relationship Type="http://schemas.openxmlformats.org/officeDocument/2006/relationships/notesMaster" Target="/ppt/notesMasters/notesMaster1.xml" Id="R0798bac6dde344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b11766b9cc4433" /><Relationship Type="http://schemas.openxmlformats.org/officeDocument/2006/relationships/notesMaster" Target="/ppt/notesMasters/notesMaster1.xml" Id="R8d4e02ce933648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83600b0e7a403e" /><Relationship Type="http://schemas.openxmlformats.org/officeDocument/2006/relationships/notesMaster" Target="/ppt/notesMasters/notesMaster1.xml" Id="Rb6e4a2298b01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A proposta organiza a distribuição e o acompanhamento. A equipe mantém o acompanhamento no arquivo gerado. A apresentação mostra o que já está disponível, e as possibilidades futuras aparecem identificadas no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Explique que o programa recebe um arquivo exportado. A equipe define os participantes e mantém os status na planilha gerada. A entrada é um arquivo local preparado pela equipe.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As linhas da tabela são fictícias e seguem a ordem real da regra. A data e a hora são consideradas. A alternância continua de um dia para o próximo. Os primeiros nomes recebem eventual sobra, com diferença máxima de um case. Isso equilibra quantidade, não dificuldade.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A pasta deve estar extraída e completa. As dependências acompanham o programa, mas Python precisa existir no computador. A versão do GitHub vem com a lista operacional vazia. A base fictícia tem 42 linhas; o roteiro de exemplos mostra a lista separada que exclui duas delas.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A captura usa cases e nomes fictícios. Na planilha, o analista filtra RESPONSÁVEL pelo próprio nome e atualiza STATUS, MOTIVO e OBSERVAÇÃO. Filtrar não restringe acesso. Esta versão não possui botões de concluir ou escalar por linha: a ação é a escolha do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Revisar depois mantém o responsável. Escalado exige informar destino e contexto em OBSERVAÇÃO. O status registra a situação na Tracking. A versão atual não envia mensagens nem executa ações em sistemas externos.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Demonstração fictícia com 40 cases. Os 20 abertos incluem 5 pendentes, 8 em andamento, 4 para revisão e 3 escalados. O filtro muda os indicadores; a tabela por responsável continua mostrando a equipe inteira. O alerta de responsável não cadastrado sempre é global. O gráfico acompanha o preenchimento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O dia de abertura não conta. O prazo termina às 23h59min59s do quarto dia útil seguinte. Sábados, domingos e feriados cadastrados na aba SLA ficam fora. O exemplo considera abertura em sexta-feira, 25/09/2026, sem feriados.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A imagem simula dez cases abertos: quatro com prazo futuro, três que vencem hoje, dois vencidos e uma data futura a verificar. Os indicadores acompanham o filtro do gestor. A aba SLA tem filtros próprios e detalha prazo e faixa de cada case. Cadastre feriados em K10:K109. O cálculo atualiza ao abrir, editar ou pressionar F9, não continuamente com o arquivo parado. Escalados e revisões permanecem abertos; concluídos saem da contagem. Não há avaliação histórica sem data de conclusão.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O botão do Excel usa a visão atual com o filtro, inclusive edições ainda não salvas, e inclui SLA em outra página. Gerar_PDF.bat usa todos os dados salvos e não inclui SLA nem filtro. Fonte Microsoft: https://support.microsoft.com/en-us/excel/work-with-vba-macros-in-excel-for-the-web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A geração é local. Uma pessoa coloca o arquivo em SharePoint Online ou OneDrive autorizado. Coautoria depende de permissões e versões compatíveis. Todos devem acessar o mesmo arquivo. O navegador edita a planilha, mas não executa VBA; o gestor abre no aplicativo instalado para gerar PDF. Fontes Microsoft: https://support.microsoft.com/en-us/excel/get-started/collaborate-on-excel-workbooks-at-the-same-time-with-co-authoring e https://support.microsoft.com/en-us/excel/work-with-vba-macros-in-excel-for-the-web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atualizar_painel.py aceita .xlsx e .xlsm compatíveis. Exige Tracking, Resumo, sete cabeçalhos e equipe registrada. Cria outra cópia .xlsm com painel e SLA, preservando valores, status, responsáveis, motivos, observações, Resumo e feriados. A rotina não redistribui nem altera a entrada.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Baseado na implementação da versão 3.1: distribuir_cases.py, dashboard_gestor.py, painel_gestor.py, sla_cases.py e recursos/RelatorioGestor.bas. Windows e Python 3.10+. Excel 2019 ou Microsoft 365 para o painel. O PDF pelo botão exige Excel desktop e macros permitidas. Sem autenticação, acesso por linha, sincronização externa, agendamento ou medição automática de tempo. O SLA histórico dos concluídos exige data de conclusão confiável.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8fca0cc7847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16025175a49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3fcbb092d48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190b3fc2349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f53f35a524f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552ece46e42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A3BFFD-E92F-4972-AC5C-AD0BBCC6B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1A526A-BF9D-4911-BF68-104FEE10E0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EA58DF-F937-4090-892B-13620211E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523CC9-A522-41AE-82EC-46450E6FA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0789BA-C844-48E5-95A6-D70149199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3EDAD2-0F50-428C-97F4-F61F60EF8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96D393-2ECE-41C7-8D84-4BE66548EF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A5037C-AA7C-4994-9D7E-776977FB5B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B79C56-4B8F-4FC2-9FBC-55E7DDBAD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4A07F8-5EFB-4B59-89C9-85514FCCFC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138a354e224406" /><Relationship Type="http://schemas.openxmlformats.org/officeDocument/2006/relationships/slideLayout" Target="/ppt/slideLayouts/slideLayout1.xml" Id="Redac428f5c144c3e" /><Relationship Type="http://schemas.openxmlformats.org/officeDocument/2006/relationships/slideLayout" Target="/ppt/slideLayouts/slideLayout2.xml" Id="R348791174151485d" /><Relationship Type="http://schemas.openxmlformats.org/officeDocument/2006/relationships/slideLayout" Target="/ppt/slideLayouts/slideLayout3.xml" Id="Rc62344d67712464f" /><Relationship Type="http://schemas.openxmlformats.org/officeDocument/2006/relationships/slideLayout" Target="/ppt/slideLayouts/slideLayout4.xml" Id="R03f86f5526604d18" /><Relationship Type="http://schemas.openxmlformats.org/officeDocument/2006/relationships/slideLayout" Target="/ppt/slideLayouts/slideLayout5.xml" Id="R1981bdad4f6b4612" /><Relationship Type="http://schemas.openxmlformats.org/officeDocument/2006/relationships/slideLayout" Target="/ppt/slideLayouts/slideLayout6.xml" Id="R8f79efcb16504a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ac428f5c144c3e"/>
    <p:sldLayoutId xmlns:r="http://schemas.openxmlformats.org/officeDocument/2006/relationships" id="2147483650" r:id="R348791174151485d"/>
    <p:sldLayoutId xmlns:r="http://schemas.openxmlformats.org/officeDocument/2006/relationships" id="2147483651" r:id="Rc62344d67712464f"/>
    <p:sldLayoutId xmlns:r="http://schemas.openxmlformats.org/officeDocument/2006/relationships" id="2147483652" r:id="R03f86f5526604d18"/>
    <p:sldLayoutId xmlns:r="http://schemas.openxmlformats.org/officeDocument/2006/relationships" id="2147483653" r:id="R1981bdad4f6b4612"/>
    <p:sldLayoutId xmlns:r="http://schemas.openxmlformats.org/officeDocument/2006/relationships" id="2147483654" r:id="R8f79efcb16504a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44351bb2f04c55" /><Relationship Type="http://schemas.openxmlformats.org/officeDocument/2006/relationships/notesSlide" Target="/ppt/notesSlides/notesSlide1.xml" Id="R3d6743cb1f6649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1d62222bd4953" /><Relationship Type="http://schemas.openxmlformats.org/officeDocument/2006/relationships/notesSlide" Target="/ppt/notesSlides/notesSlide2.xml" Id="R535ec58191b845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9397c430384d94" /><Relationship Type="http://schemas.openxmlformats.org/officeDocument/2006/relationships/notesSlide" Target="/ppt/notesSlides/notesSlide3.xml" Id="R8e972c116a73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030b4545a4ff5" /><Relationship Type="http://schemas.openxmlformats.org/officeDocument/2006/relationships/notesSlide" Target="/ppt/notesSlides/notesSlide4.xml" Id="R69da5550c1db4c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fc16133ba4440" /><Relationship Type="http://schemas.openxmlformats.org/officeDocument/2006/relationships/image" Target="/ppt/media/image.png" Id="R30e6eee159764c43" /><Relationship Type="http://schemas.openxmlformats.org/officeDocument/2006/relationships/notesSlide" Target="/ppt/notesSlides/notesSlide5.xml" Id="R3ce60634bc3d47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6b05845074cd3" /><Relationship Type="http://schemas.openxmlformats.org/officeDocument/2006/relationships/notesSlide" Target="/ppt/notesSlides/notesSlide6.xml" Id="R452df72a0e60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74e5054404054" /><Relationship Type="http://schemas.openxmlformats.org/officeDocument/2006/relationships/image" Target="/ppt/media/image2.png" Id="Rcdf5169d2fec457a" /><Relationship Type="http://schemas.openxmlformats.org/officeDocument/2006/relationships/notesSlide" Target="/ppt/notesSlides/notesSlide7.xml" Id="Ra5a84b452746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715ffb90b473c" /><Relationship Type="http://schemas.openxmlformats.org/officeDocument/2006/relationships/notesSlide" Target="/ppt/notesSlides/notesSlide8.xml" Id="Re418a50f4b5440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2fb1468134851" /><Relationship Type="http://schemas.openxmlformats.org/officeDocument/2006/relationships/image" Target="/ppt/media/image3.png" Id="R1fed561945aa42c5" /><Relationship Type="http://schemas.openxmlformats.org/officeDocument/2006/relationships/notesSlide" Target="/ppt/notesSlides/notesSlide9.xml" Id="R25cd541475b443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4d400975f4612" /><Relationship Type="http://schemas.openxmlformats.org/officeDocument/2006/relationships/notesSlide" Target="/ppt/notesSlides/notesSlide10.xml" Id="Rb3e014373dc544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55a278c444c69" /><Relationship Type="http://schemas.openxmlformats.org/officeDocument/2006/relationships/notesSlide" Target="/ppt/notesSlides/notesSlide11.xml" Id="R35647c2c6c174e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9b49dae8d4f19" /><Relationship Type="http://schemas.openxmlformats.org/officeDocument/2006/relationships/notesSlide" Target="/ppt/notesSlides/notesSlide12.xml" Id="R8dbd6cfdd06f45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8e441c55b4e2d" /><Relationship Type="http://schemas.openxmlformats.org/officeDocument/2006/relationships/notesSlide" Target="/ppt/notesSlides/notesSlide13.xml" Id="R2d3957d8902b4b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888CC-F933-41E9-B55C-FF1760E6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0DD6A-043D-46A9-8699-BD3C181F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810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8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Tracking operacional</a:t>
            </a:r>
          </a:p>
          <a:p xmlns:a="http://schemas.openxmlformats.org/drawingml/2006/main">
            <a:pPr>
              <a:defRPr sz="58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de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A0D19-3451-43F9-BCC0-F4CDAD84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19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73DEC9"/>
                </a:solidFill>
                <a:latin typeface="Arial"/>
                <a:ea typeface="Arial"/>
                <a:cs typeface="Arial"/>
              </a:rPr>
              <a:t>Distribuição por abertura e acompanhamento</a:t>
            </a:r>
          </a:p>
          <a:p xmlns:a="http://schemas.openxmlformats.org/drawingml/2006/main">
            <a:pPr>
              <a:defRPr sz="2550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73DEC9"/>
                </a:solidFill>
                <a:latin typeface="Arial"/>
                <a:ea typeface="Arial"/>
                <a:cs typeface="Arial"/>
              </a:rPr>
              <a:t>da equipe em Excel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FCB08-1CE1-4734-BAE2-85DCA85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7212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Funcionamento e guia de uso da versão 3.1</a:t>
            </a:r>
          </a:p>
        </p:txBody>
      </p:sp>
    </p:spTree>
    <p:extLst>
      <p:ext uri="{BB962C8B-B14F-4D97-AF65-F5344CB8AC3E}">
        <p14:creationId xmlns:p14="http://schemas.microsoft.com/office/powerpoint/2010/main" val="1558010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80FB9-7803-430D-8412-9F75039D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Como a ferramenta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A1652-0914-467E-AF12-C2DE2D56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DE4FD-609A-4128-97C5-A4D2D7AD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27EC0-AA04-42D0-B71F-2FEAE4DF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33550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Exportar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C005C-4E1A-429F-81E4-A07B28A7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66579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 equipe prepara a base de entrada em Excel.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574AD-9B70-446E-8203-F7C72444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E2E5F-3063-4745-94EE-FEB75A56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33675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Distribuir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ED685-503D-4F6C-9A82-CA2282AE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33675"/>
            <a:ext cx="66579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O programa ordena por abertura e define os responsáveis.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01E0A-8CC0-4451-AEDE-13436945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8ECF9-3AAD-422B-8AD2-998B07BD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26BF6-7406-484C-950E-C39A91E9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66579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Analistas atualizam a Tracking. O gestor consulta as fórmulas.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24A44-4DA2-44D7-A5FA-11EB2B7F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02E72-96ED-4A41-AD17-4512F9D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33925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16B1F-14E7-4B1A-8F22-83B4C6D8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33925"/>
            <a:ext cx="66579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O botão do gestor gera o resumo em PDF.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C7DCE-50F5-4BB2-8C5B-7F7DEBBF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38825"/>
            <a:ext cx="938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 execução usa arquivos locais e mantém o acompanhamento em Excel.</a:t>
            </a:r>
          </a:p>
        </p:txBody>
      </p:sp>
    </p:spTree>
    <p:extLst>
      <p:ext uri="{BB962C8B-B14F-4D97-AF65-F5344CB8AC3E}">
        <p14:creationId xmlns:p14="http://schemas.microsoft.com/office/powerpoint/2010/main" val="1708875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4B9B6-40D0-47EE-A53D-0B519D4B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Distribuição por data de abertura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261D-3B8A-4084-871C-CDECE00C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63BDC-5E8F-4BD5-882A-59AA2944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04975"/>
            <a:ext cx="428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Mais antigos primeiro,</a:t>
            </a:r>
          </a:p>
          <a:p xmlns:a="http://schemas.openxmlformats.org/drawingml/2006/main">
            <a:pPr>
              <a:defRPr sz="24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alternando os nomes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927DF-3366-43A0-803D-33B854C5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42386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As exclusões saem antes da divisão.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 diferença inicial é de até um case entre as pessoas.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1C7BE-C61D-44A5-8FA7-0491D894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424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Exemplo fictício com cinco responsáveis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B474D-E3DE-4B28-A58E-43CA07094914}"/>
              </a:ext>
            </a:extLst>
          </p:cNvPr>
          <p:cNvGraphicFramePr/>
          <p:nvPr/>
        </p:nvGraphicFramePr>
        <p:xfrm>
          <a:off xmlns:a="http://schemas.openxmlformats.org/drawingml/2006/main" x="5238750" y="1704975"/>
          <a:ext xmlns:a="http://schemas.openxmlformats.org/drawingml/2006/main" cx="6238875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047875"/>
                <a:gridCol w="2000250"/>
              </a:tblGrid>
              <a:tr h="5755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Abertura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11/09 08h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00090001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Ana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11/09 20h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00090002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Bruno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12/09 08h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00090003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Carla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12/09 20h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00090004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Diego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13/09 08h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00090005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Elisa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</a:tr>
              <a:tr h="5755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13/09 20h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00090006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Ana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087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B9119-1827-4DDC-94F1-6672F501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Como gerar a planilha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5ABA1-0A97-4166-9326-B2C30C59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DB92B-4041-4774-A920-B85E5C38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DB195-CC78-4E4B-8B45-FD2C4AA2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145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Preparar a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77D74-8E98-496D-8DD7-3066BC95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2288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Exportar .xlsx e revisar os cases em espera.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0EE5B-5385-4503-B186-FF52CF0F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05125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373B9-4FB4-428E-BC5A-C580389F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05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Abrir Iniciar.bat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5681C-3BCB-492B-88BE-5AFDA0C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419475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Colar o caminho da base e informar a equipe do dia.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7626B-D77A-4190-9673-C0E5F26B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95750"/>
            <a:ext cx="61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9602D-1192-41E0-82EE-0106C661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Conferir o 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8319E-3804-4004-96AD-1F6ABC51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6101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Abrir o arquivo gerado e verificar a aba Resumo.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92A15-C134-4B6B-B80D-D4CDDA0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56260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8AA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8AA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AAFFF"/>
                </a:solidFill>
                <a:latin typeface="Arial"/>
                <a:ea typeface="Arial"/>
                <a:cs typeface="Arial"/>
              </a:rPr>
              <a:t>Saída: Programa/Saidas/&lt;execucao&gt;/Tracking_DD-MM.xlsm</a:t>
            </a:r>
          </a:p>
        </p:txBody>
      </p:sp>
    </p:spTree>
    <p:extLst>
      <p:ext uri="{BB962C8B-B14F-4D97-AF65-F5344CB8AC3E}">
        <p14:creationId xmlns:p14="http://schemas.microsoft.com/office/powerpoint/2010/main" val="189478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FF178-309D-464E-9507-5E0E236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Uso diário na aba Tracking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49A43-F282-4C61-A097-DC7785D6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08B55-167D-404A-976F-4CF296F0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620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3DEC9"/>
                </a:solidFill>
                <a:latin typeface="Arial"/>
                <a:ea typeface="Arial"/>
                <a:cs typeface="Arial"/>
              </a:rPr>
              <a:t>Filtrar pelo responsável e atualizar STATUS, MOTIVO e OBSERVAÇÃO.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2E23E-25A9-437B-BBA9-D240C96AD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6eee159764c43"/>
          <a:stretch xmlns:a="http://schemas.openxmlformats.org/drawingml/2006/main"/>
        </p:blipFill>
        <p:spPr>
          <a:xfrm xmlns:a="http://schemas.openxmlformats.org/drawingml/2006/main">
            <a:off x="600075" y="2456440"/>
            <a:ext cx="10972800" cy="237374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6A3E7-856F-4CF6-9267-68A24CAD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054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 ordem de abertura orienta a fila de trabalho.</a:t>
            </a:r>
          </a:p>
          <a:p xmlns:a="http://schemas.openxmlformats.org/drawingml/2006/main">
            <a: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O filtro organiza a visualização, sem restringir o acesso por pessoa.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B4832-4B17-425D-9319-5A829688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838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966341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20338-DE54-4615-B897-999ECDA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Status do atendimento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E1E60-76ED-49EE-A005-235113FC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E3999-E5DB-406C-B431-03558630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716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C8D7"/>
                </a:solidFill>
                <a:latin typeface="Arial"/>
                <a:ea typeface="Arial"/>
                <a:cs typeface="Arial"/>
              </a:rPr>
              <a:t>Pendente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77A75-D799-479B-9234-EC4283D5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600200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Ainda não iniciado.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A9BF0-E044-413A-8725-13FC0A1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43150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8AA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AA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AAFFF"/>
                </a:solidFill>
                <a:latin typeface="Arial"/>
                <a:ea typeface="Arial"/>
                <a:cs typeface="Arial"/>
              </a:rPr>
              <a:t>Em andamento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D1F69-99C2-4DEA-B572-2941BF26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71725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Case em tratamento.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410F5-5082-423D-9395-B7E50BE9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1467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D4CB1-B857-422E-A80B-0AA42574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43250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Tratamento finalizado.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54D30-A465-41AD-AFB1-3B7A18C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5C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CB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CB83"/>
                </a:solidFill>
                <a:latin typeface="Arial"/>
                <a:ea typeface="Arial"/>
                <a:cs typeface="Arial"/>
              </a:rPr>
              <a:t>Revisar depois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D6490-70D2-4CEE-BC1B-8DCD6BD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914775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Retomar mais tarde com o mesmo responsável.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AB1AF-AD7C-4F82-8239-0AD120D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577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C6AC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6AC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6ACFA"/>
                </a:solidFill>
                <a:latin typeface="Arial"/>
                <a:ea typeface="Arial"/>
                <a:cs typeface="Arial"/>
              </a:rPr>
              <a:t>Escalado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24486-7CC5-454F-B8C6-F630B58E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86300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Registrar destino e contexto em OBSERVAÇÃO.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ACDD8-99B8-4BC5-B753-7F46A1BA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DEC9"/>
                </a:solidFill>
                <a:latin typeface="Arial"/>
                <a:ea typeface="Arial"/>
                <a:cs typeface="Arial"/>
              </a:rPr>
              <a:t>Revisões e escalonamentos continuam contando como abertos.</a:t>
            </a:r>
          </a:p>
        </p:txBody>
      </p:sp>
    </p:spTree>
    <p:extLst>
      <p:ext uri="{BB962C8B-B14F-4D97-AF65-F5344CB8AC3E}">
        <p14:creationId xmlns:p14="http://schemas.microsoft.com/office/powerpoint/2010/main" val="824784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29528-2471-4832-84C4-FB716611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Visão do gestor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7DA81-63EF-47DE-A6BF-96EEDC2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5D978-C326-43BF-B3C6-E7CF7BD7A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5169d2fec457a"/>
          <a:stretch xmlns:a="http://schemas.openxmlformats.org/drawingml/2006/main"/>
        </p:blipFill>
        <p:spPr>
          <a:xfrm xmlns:a="http://schemas.openxmlformats.org/drawingml/2006/main">
            <a:off x="533400" y="1774863"/>
            <a:ext cx="7715250" cy="405122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152A7-D732-402E-8F44-550215E8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859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Equipe ou responsável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ED10E-6217-4748-8195-B5BBCAD5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95575"/>
            <a:ext cx="28860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Indicadores por fórmula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Progresso por pessoa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Abertura mais antiga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Alertas de preenchimento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AF949-BB2C-487F-B945-AAF55B45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Demonstração fictícia de uma etapa do dia</a:t>
            </a:r>
          </a:p>
        </p:txBody>
      </p:sp>
    </p:spTree>
    <p:extLst>
      <p:ext uri="{BB962C8B-B14F-4D97-AF65-F5344CB8AC3E}">
        <p14:creationId xmlns:p14="http://schemas.microsoft.com/office/powerpoint/2010/main" val="1782342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0823E-D815-4673-9C7E-5E59CB0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SLA de quatro dias úteis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4D630-8B75-4073-808F-5161AA88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5FFCA-9861-45B4-BD49-5D01DE05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Abertura: sexta-feira, 25/09/2026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76C23-D9FC-4D7F-A76C-F5118C4B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 contagem começa no próximo dia útil.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CB1E5-C981-46BA-876E-D6979A11D02F}"/>
              </a:ext>
            </a:extLst>
          </p:cNvPr>
          <p:cNvGraphicFramePr/>
          <p:nvPr/>
        </p:nvGraphicFramePr>
        <p:xfrm>
          <a:off xmlns:a="http://schemas.openxmlformats.org/drawingml/2006/main" x="638175" y="3381375"/>
          <a:ext xmlns:a="http://schemas.openxmlformats.org/drawingml/2006/main" cx="10820400" cy="1314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Dia 1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Dia 2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Dia 3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Dia 4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Seg 28/09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Ter 29/09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Qua 30/09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Qui 01/10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10C71-4AA0-4C79-9D07-4F317BF5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Prazo: até o fim de quinta-feira, 01/10/2026.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76B78-2B3C-46F3-A27F-2055491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Exemplo sem feriados. Cadastre os feriados da operação na aba SLA.</a:t>
            </a:r>
          </a:p>
        </p:txBody>
      </p:sp>
    </p:spTree>
    <p:extLst>
      <p:ext uri="{BB962C8B-B14F-4D97-AF65-F5344CB8AC3E}">
        <p14:creationId xmlns:p14="http://schemas.microsoft.com/office/powerpoint/2010/main" val="1024829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5AC5B-EF46-4BA8-AF01-DC24CF8F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SLA na visão do gestor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4B139-4D81-4C3B-AF3B-995AB291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8C78C-B65C-4A5D-9FA1-7A744FFE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73DEC9"/>
                </a:solidFill>
                <a:latin typeface="Arial"/>
                <a:ea typeface="Arial"/>
                <a:cs typeface="Arial"/>
              </a:rPr>
              <a:t>Identifique o que vence hoje e o que já está atrasado.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5CB78-D6E8-4F1B-8246-795ED01D4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d561945aa42c5"/>
          <a:stretch xmlns:a="http://schemas.openxmlformats.org/drawingml/2006/main"/>
        </p:blipFill>
        <p:spPr>
          <a:xfrm xmlns:a="http://schemas.openxmlformats.org/drawingml/2006/main">
            <a:off x="619125" y="2301306"/>
            <a:ext cx="10953750" cy="218871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25160-886B-47F4-8F49-AFFC0E08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No painel: filtre a equipe ou um responsável.</a:t>
            </a:r>
          </a:p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Na aba SLA: confira o prazo de cada case e cadastre feriados.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54097-6E4B-4E9D-9D0F-DE09F2C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Atualize com F9 e confira a hora do cálculo. Imagem com dados fictícios.</a:t>
            </a:r>
          </a:p>
        </p:txBody>
      </p:sp>
    </p:spTree>
    <p:extLst>
      <p:ext uri="{BB962C8B-B14F-4D97-AF65-F5344CB8AC3E}">
        <p14:creationId xmlns:p14="http://schemas.microsoft.com/office/powerpoint/2010/main" val="20939984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4E40F-18D3-4FF3-BD48-41749779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Resumo em PDF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784B2-0F06-4E73-A74B-9D78677B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F20A1-9837-401A-B460-E4AFB6FE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954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No Excel desktop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855DA-7632-42A6-984B-21B953ED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1  Escolher a equipe ou um responsável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2  Clicar em GERAR RESUMO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3  Consultar o arquivo gerado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8920B-660C-4960-AD83-82429B27B316}"/>
              </a:ext>
            </a:extLst>
          </p:cNvPr>
          <p:cNvGraphicFramePr/>
          <p:nvPr/>
        </p:nvGraphicFramePr>
        <p:xfrm>
          <a:off xmlns:a="http://schemas.openxmlformats.org/drawingml/2006/main" x="6000750" y="2095500"/>
          <a:ext xmlns:a="http://schemas.openxmlformats.org/drawingml/2006/main" cx="5495925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4175"/>
                <a:gridCol w="1285875"/>
                <a:gridCol w="1285875"/>
              </a:tblGrid>
              <a:tr h="749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Opção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Filtro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3DEC9"/>
                          </a:solidFill>
                          <a:latin typeface="Arial"/>
                          <a:ea typeface="Arial"/>
                          <a:cs typeface="Arial"/>
                        </a:rPr>
                        <a:t>SLA</a:t>
                      </a:r>
                    </a:p>
                  </a:txBody>
                  <a:tcPr marL="91440" marR="91440" marT="45720" marB="45720">
                    <a:solidFill>
                      <a:srgbClr val="264052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Botão do Excel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91440" marR="91440" marT="45720" marB="45720">
                    <a:solidFill>
                      <a:srgbClr val="101923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Gerar_PDF.bat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2F6FA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91440" marR="91440" marT="45720" marB="45720">
                    <a:solidFill>
                      <a:srgbClr val="1C293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FC581-9969-466E-AD3F-D86C938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95825"/>
            <a:ext cx="5381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O gerador alternativo resume os registros salvos de toda a equipe.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DD6A4-EE9B-4303-8CAB-53270736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F5C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5CB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CB83"/>
                </a:solidFill>
                <a:latin typeface="Arial"/>
                <a:ea typeface="Arial"/>
                <a:cs typeface="Arial"/>
              </a:rPr>
              <a:t>Saída em Relatorios_PDF. O botão requer Excel instalado e macros permitidas.</a:t>
            </a:r>
          </a:p>
        </p:txBody>
      </p:sp>
    </p:spTree>
    <p:extLst>
      <p:ext uri="{BB962C8B-B14F-4D97-AF65-F5344CB8AC3E}">
        <p14:creationId xmlns:p14="http://schemas.microsoft.com/office/powerpoint/2010/main" val="1959804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9FC93-AD7F-4682-9E53-2414BC41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Acompanhamento compartilhado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3475B-EE6B-43C8-8AAB-B51A0B45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AB690-B24D-42CA-BF03-AC20712F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Um único arquivo para a equipe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C1B4C-93AA-4557-B8CC-9602273C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0620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A tracking fica em uma biblioteca autorizada</a:t>
            </a:r>
          </a:p>
          <a:p xmlns:a="http://schemas.openxmlformats.org/drawingml/2006/main">
            <a:pPr>
              <a:defRPr sz="247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do SharePoint Online ou OneDrive.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979C5-EFEE-48C6-B3CC-68FAB63B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0382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As atualizações dependem da sincronização e do cálculo.</a:t>
            </a:r>
          </a:p>
          <a:p xmlns:a="http://schemas.openxmlformats.org/drawingml/2006/main">
            <a:pPr>
              <a:defRPr sz="2100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Permissões de edição e coautoria precisam estar disponíveis.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9961A-5E16-459B-8107-D68B3F01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959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5C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5CB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CB83"/>
                </a:solidFill>
                <a:latin typeface="Arial"/>
                <a:ea typeface="Arial"/>
                <a:cs typeface="Arial"/>
              </a:rPr>
              <a:t>Cópias e anexos separados não se atualizam entre si.</a:t>
            </a:r>
          </a:p>
        </p:txBody>
      </p:sp>
    </p:spTree>
    <p:extLst>
      <p:ext uri="{BB962C8B-B14F-4D97-AF65-F5344CB8AC3E}">
        <p14:creationId xmlns:p14="http://schemas.microsoft.com/office/powerpoint/2010/main" val="17841284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BAFE6-9700-4FC8-A985-DC83F642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Atualização de uma tracking existente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09E29-D0FF-4C19-927C-19D9F25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A732F-DB20-45F9-9B56-94B42996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9B4ED-3947-4201-BE9E-CD580B1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049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Abrir Atualizar_Painel.bat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67189-E3D3-460D-A8E9-5B84977C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200275"/>
            <a:ext cx="981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Informar a tracking .xlsx ou .xlsm já preenchida.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34AFF-75D4-4DB3-9BF2-13BBFE8B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86965-1F31-4C6A-AE56-017A4862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765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Criar a nova cópia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94A36-37BC-4F66-B9AA-091E27E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71850"/>
            <a:ext cx="981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O painel inclui SLA na pasta Painel_SLA_&lt;execucao&gt;.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41E76-E027-42F9-843D-CA4B82EF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E5B97-3A37-493A-A144-82DB8E99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48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Conferir e adotar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FD7CB-0E5C-41A5-9954-60BC7B96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543425"/>
            <a:ext cx="981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Comparar os atendimentos e feriados antes de usar a cópia.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17B03-40B7-4348-AEC5-84C8346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3DEC9"/>
                </a:solidFill>
                <a:latin typeface="Arial"/>
                <a:ea typeface="Arial"/>
                <a:cs typeface="Arial"/>
              </a:rPr>
              <a:t>Preserva status, responsáveis, motivos, observações, Resumo e feriados.</a:t>
            </a:r>
          </a:p>
        </p:txBody>
      </p:sp>
    </p:spTree>
    <p:extLst>
      <p:ext uri="{BB962C8B-B14F-4D97-AF65-F5344CB8AC3E}">
        <p14:creationId xmlns:p14="http://schemas.microsoft.com/office/powerpoint/2010/main" val="14436732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C8C71-2412-4414-89D8-ADC69CFB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2F6FA"/>
                </a:solidFill>
                <a:latin typeface="Arial"/>
                <a:ea typeface="Arial"/>
                <a:cs typeface="Arial"/>
              </a:rPr>
              <a:t>Requisitos e limites da versão 3.1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CFF8D-C200-474A-8FC3-90285F3D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95159-524C-451F-AEF0-B92E86E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954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3DEC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3DEC9"/>
                </a:solidFill>
                <a:latin typeface="Arial"/>
                <a:ea typeface="Arial"/>
                <a:cs typeface="Arial"/>
              </a:rPr>
              <a:t>Para usar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F9E4A-2DD6-4DC1-90BB-A4A2E7DD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9053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Windows e Python 3.10+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Pasta completa do programa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Excel 2019 ou Microsoft 365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2F6F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F6FA"/>
                </a:solidFill>
                <a:latin typeface="Arial"/>
                <a:ea typeface="Arial"/>
                <a:cs typeface="Arial"/>
              </a:rPr>
              <a:t>Excel desktop para o botão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54527-8236-4895-AF4B-5DAA589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8AA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8AA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AAFFF"/>
                </a:solidFill>
                <a:latin typeface="Arial"/>
                <a:ea typeface="Arial"/>
                <a:cs typeface="Arial"/>
              </a:rPr>
              <a:t>Limites atuais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BADC3-4490-4DB1-828E-372382D4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09850"/>
            <a:ext cx="49815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Filtro sem restrição de acesso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Acompanhamento manual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Recálculo ao abrir, editar ou F9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B8C8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8C8D7"/>
                </a:solidFill>
                <a:latin typeface="Arial"/>
                <a:ea typeface="Arial"/>
                <a:cs typeface="Arial"/>
              </a:rPr>
              <a:t>SLA apenas dos cases em aberto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FB3E0-3379-45E3-AE8E-661FC75B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52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F5C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5CB8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CB83"/>
                </a:solidFill>
                <a:latin typeface="Arial"/>
                <a:ea typeface="Arial"/>
                <a:cs typeface="Arial"/>
              </a:rPr>
              <a:t>Sem data de conclusão, não há avaliação histórica do SLA dos finalizados.</a:t>
            </a:r>
          </a:p>
        </p:txBody>
      </p:sp>
    </p:spTree>
    <p:extLst>
      <p:ext uri="{BB962C8B-B14F-4D97-AF65-F5344CB8AC3E}">
        <p14:creationId xmlns:p14="http://schemas.microsoft.com/office/powerpoint/2010/main" val="889297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2026-10-03T03:47:51.6690000Z</dcterms:created>
  <dcterms:modified xsi:type="dcterms:W3CDTF">2026-10-03T03:47:51.6690000Z</dcterms:modified>
</coreProperties>
</file>