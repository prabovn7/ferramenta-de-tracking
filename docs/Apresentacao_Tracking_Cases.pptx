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e1771006674bea" /><Relationship Type="http://schemas.openxmlformats.org/officeDocument/2006/relationships/extended-properties" Target="/docProps/app.xml" Id="Re0876fb9acfc412d" /><Relationship Type="http://schemas.openxmlformats.org/officeDocument/2006/relationships/officeDocument" Target="/ppt/presentation.xml" Id="R104aefa4769344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7d0523ed3c48ee"/>
  </p:sldMasterIdLst>
  <p:notesMasterIdLst>
    <p:notesMasterId xmlns:r="http://schemas.openxmlformats.org/officeDocument/2006/relationships" r:id="R74c72f4cfc3d458d"/>
  </p:notesMasterIdLst>
  <p:sldIdLst>
    <p:sldId xmlns:r="http://schemas.openxmlformats.org/officeDocument/2006/relationships" id="256" r:id="Rd95be4d1db874bf7"/>
    <p:sldId xmlns:r="http://schemas.openxmlformats.org/officeDocument/2006/relationships" id="257" r:id="R37dfb96407bb4b1d"/>
    <p:sldId xmlns:r="http://schemas.openxmlformats.org/officeDocument/2006/relationships" id="258" r:id="R180e6353b47f4d3a"/>
    <p:sldId xmlns:r="http://schemas.openxmlformats.org/officeDocument/2006/relationships" id="259" r:id="Rb997bbc425a4476f"/>
    <p:sldId xmlns:r="http://schemas.openxmlformats.org/officeDocument/2006/relationships" id="260" r:id="R735207a07b344551"/>
    <p:sldId xmlns:r="http://schemas.openxmlformats.org/officeDocument/2006/relationships" id="261" r:id="Reda7ad2c01f14374"/>
    <p:sldId xmlns:r="http://schemas.openxmlformats.org/officeDocument/2006/relationships" id="262" r:id="R7776f676f0e94bd6"/>
    <p:sldId xmlns:r="http://schemas.openxmlformats.org/officeDocument/2006/relationships" id="263" r:id="Rb3b497d4677d43f4"/>
    <p:sldId xmlns:r="http://schemas.openxmlformats.org/officeDocument/2006/relationships" id="264" r:id="R08e13fa1a8134c3b"/>
    <p:sldId xmlns:r="http://schemas.openxmlformats.org/officeDocument/2006/relationships" id="265" r:id="R673a541cb9714c21"/>
    <p:sldId xmlns:r="http://schemas.openxmlformats.org/officeDocument/2006/relationships" id="266" r:id="R1cc25ba62e24406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af3e7d8fd54e26" /><Relationship Type="http://schemas.openxmlformats.org/officeDocument/2006/relationships/slideMaster" Target="/ppt/slideMasters/slideMaster1.xml" Id="Ra27d0523ed3c48ee" /><Relationship Type="http://schemas.openxmlformats.org/officeDocument/2006/relationships/notesMaster" Target="/ppt/notesMasters/notesMaster1.xml" Id="R74c72f4cfc3d458d" /><Relationship Type="http://schemas.openxmlformats.org/officeDocument/2006/relationships/presProps" Target="/ppt/presProps.xml" Id="R787285ffb55a43a5" /><Relationship Type="http://schemas.openxmlformats.org/officeDocument/2006/relationships/tableStyles" Target="/ppt/tableStyles.xml" Id="R1db482f60ec249c2" /><Relationship Type="http://schemas.openxmlformats.org/officeDocument/2006/relationships/slide" Target="/ppt/slides/slide1.xml" Id="Rd95be4d1db874bf7" /><Relationship Type="http://schemas.openxmlformats.org/officeDocument/2006/relationships/slide" Target="/ppt/slides/slide2.xml" Id="R37dfb96407bb4b1d" /><Relationship Type="http://schemas.openxmlformats.org/officeDocument/2006/relationships/slide" Target="/ppt/slides/slide3.xml" Id="R180e6353b47f4d3a" /><Relationship Type="http://schemas.openxmlformats.org/officeDocument/2006/relationships/slide" Target="/ppt/slides/slide4.xml" Id="Rb997bbc425a4476f" /><Relationship Type="http://schemas.openxmlformats.org/officeDocument/2006/relationships/slide" Target="/ppt/slides/slide5.xml" Id="R735207a07b344551" /><Relationship Type="http://schemas.openxmlformats.org/officeDocument/2006/relationships/slide" Target="/ppt/slides/slide6.xml" Id="Reda7ad2c01f14374" /><Relationship Type="http://schemas.openxmlformats.org/officeDocument/2006/relationships/slide" Target="/ppt/slides/slide7.xml" Id="R7776f676f0e94bd6" /><Relationship Type="http://schemas.openxmlformats.org/officeDocument/2006/relationships/slide" Target="/ppt/slides/slide8.xml" Id="Rb3b497d4677d43f4" /><Relationship Type="http://schemas.openxmlformats.org/officeDocument/2006/relationships/slide" Target="/ppt/slides/slide9.xml" Id="R08e13fa1a8134c3b" /><Relationship Type="http://schemas.openxmlformats.org/officeDocument/2006/relationships/slide" Target="/ppt/slides/slide10.xml" Id="R673a541cb9714c21" /><Relationship Type="http://schemas.openxmlformats.org/officeDocument/2006/relationships/slide" Target="/ppt/slides/slide11.xml" Id="R1cc25ba62e2440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5816585f6248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b7e28f5e4847e3" /><Relationship Type="http://schemas.openxmlformats.org/officeDocument/2006/relationships/notesMaster" Target="/ppt/notesMasters/notesMaster1.xml" Id="R76a9f48eae224f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2a3e8bb9fe4e30" /><Relationship Type="http://schemas.openxmlformats.org/officeDocument/2006/relationships/notesMaster" Target="/ppt/notesMasters/notesMaster1.xml" Id="R73bc13209bbb4b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9f7b283016477d" /><Relationship Type="http://schemas.openxmlformats.org/officeDocument/2006/relationships/notesMaster" Target="/ppt/notesMasters/notesMaster1.xml" Id="R72c349d45b9844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f3d7db10d44611" /><Relationship Type="http://schemas.openxmlformats.org/officeDocument/2006/relationships/notesMaster" Target="/ppt/notesMasters/notesMaster1.xml" Id="R579ebf2b373942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106b3bff9548e4" /><Relationship Type="http://schemas.openxmlformats.org/officeDocument/2006/relationships/notesMaster" Target="/ppt/notesMasters/notesMaster1.xml" Id="R0d13d331356540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efac3383084c4b" /><Relationship Type="http://schemas.openxmlformats.org/officeDocument/2006/relationships/notesMaster" Target="/ppt/notesMasters/notesMaster1.xml" Id="Rc39d8d714c0347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87c4ceb1364b2e" /><Relationship Type="http://schemas.openxmlformats.org/officeDocument/2006/relationships/notesMaster" Target="/ppt/notesMasters/notesMaster1.xml" Id="R0a405b73d77140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a0abbc64f14694" /><Relationship Type="http://schemas.openxmlformats.org/officeDocument/2006/relationships/notesMaster" Target="/ppt/notesMasters/notesMaster1.xml" Id="R77415f3be2a74c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59e2774a8124d10" /><Relationship Type="http://schemas.openxmlformats.org/officeDocument/2006/relationships/notesMaster" Target="/ppt/notesMasters/notesMaster1.xml" Id="R1042ffae55f54f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d5804ac8214178" /><Relationship Type="http://schemas.openxmlformats.org/officeDocument/2006/relationships/notesMaster" Target="/ppt/notesMasters/notesMaster1.xml" Id="R1798a63d93f64f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78ce8e777e34c0a" /><Relationship Type="http://schemas.openxmlformats.org/officeDocument/2006/relationships/notesMaster" Target="/ppt/notesMasters/notesMaster1.xml" Id="R72b036eb1de445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A proposta organiza a distribuição e o acompanhamento. A operação continua sendo registrada oficialmente no Creatio. A apresentação mostra o que já está disponível, e as possibilidades futuras aparecem identificadas no final.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Explique que o programa recebe um arquivo exportado. A equipe define os participantes e mantém os status na planilha gerada. Não há consulta automática ao Creatio nesta versão.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As linhas da tabela são fictícias e seguem a ordem real da regra. A data e a hora são consideradas. A alternância continua de um dia para o próximo. Os primeiros nomes recebem eventual sobra, com diferença máxima de um case. Isso equilibra quantidade, não dificuldade.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A pasta deve estar extraída e completa. As dependências acompanham o programa, mas Python precisa existir no computador. A versão do GitHub vem com a lista operacional vazia. A base fictícia tem 42 linhas; o roteiro de exemplos mostra a lista separada que exclui duas delas.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A captura usa cases e nomes fictícios. Na planilha, o analista filtra RESPONSÁVEL pelo próprio nome e atualiza STATUS, MOTIVO e OBSERVAÇÃO. Filtrar não restringe acesso. Esta versão não possui botões de concluir ou escalar por linha: a ação é a escolha do status.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Revisar depois mantém o responsável. Escalado exige informar destino e contexto em OBSERVAÇÃO. Não existe envio de mensagem, transferência no Creatio ou fechamento automático. Ações operacionais continuam no processo oficial da empresa.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Demonstração fictícia com 40 cases. Os 20 abertos incluem 5 pendentes, 8 em andamento, 4 para revisão e 3 escalados. O filtro muda os indicadores; a tabela por responsável continua mostrando a equipe inteira. O alerta de responsável não cadastrado sempre é global. O gráfico acompanha o preenchimento manual.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O botão usa VBA. Gera um PDF da aba Gestor com o filtro atual, inclusive edições ainda não salvas. O nome inclui data e hora. O PDF é uma fotografia do momento. Se aberto por URL do SharePoint, o destino é Documents/Relatorios_PDF do usuário. Alternativa: Gerar_PDF.bat lê os dados salvos de toda a equipe e não aplica o filtro. Fonte Microsoft: https://support.microsoft.com/en-us/excel/work-with-vba-macros-in-excel-for-the-web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A geração é local. Uma pessoa coloca o arquivo em SharePoint Online ou OneDrive autorizado. Coautoria depende de permissões e versões compatíveis. Todos devem acessar o mesmo arquivo. O navegador edita a planilha, mas não executa VBA; o gestor abre no aplicativo instalado para gerar PDF. Fontes Microsoft: https://support.microsoft.com/pt-br/excel/get-started/collaborate-on-excel-workbooks-at-the-same-time-with-co-authoring e https://support.microsoft.com/en-us/excel/work-with-vba-macros-in-excel-for-the-web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Benefícios esperados pela organização do processo. Não há medição de economia de tempo ou produtividade ainda. Proponha comparar o tempo de distribuição e acompanhar a qualidade do preenchimento durante um piloto. A regra não equilibra complexidade e a versão atual não mede duração do atendimento.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Baseado na implementação da versão 3: distribuir_cases.py, dashboard_gestor.py, painel_gestor.py e recursos/RelatorioGestor.bas. O funcionamento atual usa Python local e Excel 2019+ ou Microsoft 365, com botão VBA no aplicativo instalado. As ideias de API, execução às 6h e faixas de datas ainda não estão implementadas. Dependem de análise da TI, autorização de acesso, definição das regras e testes. Não afirmar que permissões de administrador são necessárias em todos os casos.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38540df4514e9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8f6c0a2f1047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67d0281a2e433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d27ee0fea04a2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9970a6e06f405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3c4306935042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7A2D94B-57EF-443B-BD38-999FCDE41E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B6C9ED4-8074-4314-99D5-E316D36A52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A0863BB-7A07-4FC7-930C-AD53A10FF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E9EA35-F5C3-4E64-B7E3-F6D36F83C4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EE1651A-CBEE-45C7-AF7A-876F6160AD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E83E8AF-90B4-4D70-9B57-54CF5E205D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8B367C1-9D14-4749-BF18-A2DDCF94B9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AF78FD3-07D9-46B5-ADD7-82905A7D75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4BEA39-E133-4074-A6F4-11FEE50BFA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97965C-D934-4BF9-A549-27A1D6731E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68bb7f721f4c6e" /><Relationship Type="http://schemas.openxmlformats.org/officeDocument/2006/relationships/slideLayout" Target="/ppt/slideLayouts/slideLayout1.xml" Id="R154d34202bb44739" /><Relationship Type="http://schemas.openxmlformats.org/officeDocument/2006/relationships/slideLayout" Target="/ppt/slideLayouts/slideLayout2.xml" Id="R8887257d0a974102" /><Relationship Type="http://schemas.openxmlformats.org/officeDocument/2006/relationships/slideLayout" Target="/ppt/slideLayouts/slideLayout3.xml" Id="Reac4e24315f14fcf" /><Relationship Type="http://schemas.openxmlformats.org/officeDocument/2006/relationships/slideLayout" Target="/ppt/slideLayouts/slideLayout4.xml" Id="Rf8639c3b245e4eff" /><Relationship Type="http://schemas.openxmlformats.org/officeDocument/2006/relationships/slideLayout" Target="/ppt/slideLayouts/slideLayout5.xml" Id="Rac2201e87ca941ac" /><Relationship Type="http://schemas.openxmlformats.org/officeDocument/2006/relationships/slideLayout" Target="/ppt/slideLayouts/slideLayout6.xml" Id="Re9bde57db4f043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4d34202bb44739"/>
    <p:sldLayoutId xmlns:r="http://schemas.openxmlformats.org/officeDocument/2006/relationships" id="2147483650" r:id="R8887257d0a974102"/>
    <p:sldLayoutId xmlns:r="http://schemas.openxmlformats.org/officeDocument/2006/relationships" id="2147483651" r:id="Reac4e24315f14fcf"/>
    <p:sldLayoutId xmlns:r="http://schemas.openxmlformats.org/officeDocument/2006/relationships" id="2147483652" r:id="Rf8639c3b245e4eff"/>
    <p:sldLayoutId xmlns:r="http://schemas.openxmlformats.org/officeDocument/2006/relationships" id="2147483653" r:id="Rac2201e87ca941ac"/>
    <p:sldLayoutId xmlns:r="http://schemas.openxmlformats.org/officeDocument/2006/relationships" id="2147483654" r:id="Re9bde57db4f043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418ae0e9564344" /><Relationship Type="http://schemas.openxmlformats.org/officeDocument/2006/relationships/notesSlide" Target="/ppt/notesSlides/notesSlide1.xml" Id="R7d30f38b4c5148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60b6067a2546ec" /><Relationship Type="http://schemas.openxmlformats.org/officeDocument/2006/relationships/notesSlide" Target="/ppt/notesSlides/notesSlide2.xml" Id="R7e6d89cfb10e4e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fd354f5f644176" /><Relationship Type="http://schemas.openxmlformats.org/officeDocument/2006/relationships/notesSlide" Target="/ppt/notesSlides/notesSlide3.xml" Id="R4f84458574104c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c2d552dff74bab" /><Relationship Type="http://schemas.openxmlformats.org/officeDocument/2006/relationships/notesSlide" Target="/ppt/notesSlides/notesSlide4.xml" Id="R3045eb08c74043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ee015682dd45c2" /><Relationship Type="http://schemas.openxmlformats.org/officeDocument/2006/relationships/image" Target="/ppt/media/image.png" Id="R2fd03ea6a85d4ab8" /><Relationship Type="http://schemas.openxmlformats.org/officeDocument/2006/relationships/notesSlide" Target="/ppt/notesSlides/notesSlide5.xml" Id="Ra307bda4ba4247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657df4a6f24ae8" /><Relationship Type="http://schemas.openxmlformats.org/officeDocument/2006/relationships/notesSlide" Target="/ppt/notesSlides/notesSlide6.xml" Id="R21c5aa59657242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dba57b6bf54a03" /><Relationship Type="http://schemas.openxmlformats.org/officeDocument/2006/relationships/image" Target="/ppt/media/image2.png" Id="R4908b65e724d456a" /><Relationship Type="http://schemas.openxmlformats.org/officeDocument/2006/relationships/notesSlide" Target="/ppt/notesSlides/notesSlide7.xml" Id="Rba8277b48ad549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be6ad9215c4e72" /><Relationship Type="http://schemas.openxmlformats.org/officeDocument/2006/relationships/notesSlide" Target="/ppt/notesSlides/notesSlide8.xml" Id="R61caddb8b31e4b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2c040e0bf34aaa" /><Relationship Type="http://schemas.openxmlformats.org/officeDocument/2006/relationships/notesSlide" Target="/ppt/notesSlides/notesSlide9.xml" Id="R520de6fec15549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b0b0971bd6421a" /><Relationship Type="http://schemas.openxmlformats.org/officeDocument/2006/relationships/notesSlide" Target="/ppt/notesSlides/notesSlide10.xml" Id="R4da49479d89449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cc6ff16e53460b" /><Relationship Type="http://schemas.openxmlformats.org/officeDocument/2006/relationships/notesSlide" Target="/ppt/notesSlides/notesSlide11.xml" Id="Rebbb7ff3126440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64703-AEAC-4497-80F3-16B23B0F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D57362-E67D-48FB-8D90-7E2B8B11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810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Tracking operacional</a:t>
            </a:r>
          </a:p>
          <a:p xmlns:a="http://schemas.openxmlformats.org/drawingml/2006/main">
            <a:pPr>
              <a:defRPr sz="58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de cases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C5DC40-55AE-43B3-A06A-990D057C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81425"/>
            <a:ext cx="10191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73DEC9"/>
                </a:solidFill>
                <a:latin typeface="Arial"/>
                <a:ea typeface="Arial"/>
                <a:cs typeface="Arial"/>
              </a:rPr>
              <a:t>Distribuição por abertura e acompanhamento</a:t>
            </a:r>
          </a:p>
          <a:p xmlns:a="http://schemas.openxmlformats.org/drawingml/2006/main">
            <a:pPr>
              <a:defRPr sz="2550" b="0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73DEC9"/>
                </a:solidFill>
                <a:latin typeface="Arial"/>
                <a:ea typeface="Arial"/>
                <a:cs typeface="Arial"/>
              </a:rPr>
              <a:t>da equipe em Excel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2A619-EF99-423F-9894-5E7FEC6E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72125"/>
            <a:ext cx="1009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Funcionamento e guia de uso da versão 3</a:t>
            </a:r>
          </a:p>
        </p:txBody>
      </p:sp>
    </p:spTree>
    <p:extLst>
      <p:ext uri="{BB962C8B-B14F-4D97-AF65-F5344CB8AC3E}">
        <p14:creationId xmlns:p14="http://schemas.microsoft.com/office/powerpoint/2010/main" val="12873117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77A11A-0428-4102-8FBE-D30B2E94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Como a ferramenta funciona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40DB86-CCAE-4115-899A-13FCA9FB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0DE7D-0FA5-4E80-BA4E-AA479A59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903FBD-0276-46FB-81EF-C20E1BA2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733550"/>
            <a:ext cx="285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Exportar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30C7D-77D4-40E8-98FE-7BEDEE5E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33550"/>
            <a:ext cx="66579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 equipe salva a base do Creatio em Excel.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83C439-FEAF-4933-B303-3E10F469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8605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0E9CD-A109-4A96-80E3-DB64A1A2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733675"/>
            <a:ext cx="285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Distribuir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B479E-56A5-4262-B747-C6782877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33675"/>
            <a:ext cx="66579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O programa ordena por abertura e define os responsáveis.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045A8F-6541-4706-821A-2EDDBECA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86175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CF9D20-DA9A-4A01-9CD4-9FE5D6CA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33800"/>
            <a:ext cx="285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Acompanhar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C0C93A-49B9-470B-B669-4EE6EBEE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33800"/>
            <a:ext cx="66579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Analistas atualizam a Tracking. O gestor consulta as fórmulas.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F0F9C-56AE-4143-A92D-53141B20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8630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1A1F92-A14B-4DA9-A9D1-94D6B8DB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33925"/>
            <a:ext cx="285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Registrar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A1F972-4E4F-478E-A2FF-CAD3E35A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33925"/>
            <a:ext cx="66579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O botão do gestor gera o resumo em PDF.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9A2B05-AD4D-47A0-9B7A-FFADE16A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838825"/>
            <a:ext cx="938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O Creatio permanece como sistema oficial de atendimento.</a:t>
            </a:r>
          </a:p>
        </p:txBody>
      </p:sp>
    </p:spTree>
    <p:extLst>
      <p:ext uri="{BB962C8B-B14F-4D97-AF65-F5344CB8AC3E}">
        <p14:creationId xmlns:p14="http://schemas.microsoft.com/office/powerpoint/2010/main" val="10612158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E111B6-CD7C-4D85-A08C-B7A6A4F5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Distribuição por data de abertura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7BE4B-868D-482E-BFF2-36289D6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715414-E166-4AA4-AE4C-2F413D92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04975"/>
            <a:ext cx="4286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Mais antigos primeiro,</a:t>
            </a:r>
          </a:p>
          <a:p xmlns:a="http://schemas.openxmlformats.org/drawingml/2006/main">
            <a:pPr>
              <a:defRPr sz="2475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alternando os nomes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9406A2-81BA-4A95-8332-A9EEFE98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67050"/>
            <a:ext cx="4238625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As exclusões saem antes da divisão.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 diferença inicial é de até um case entre as pessoas.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8BC8D3-505F-433A-9792-D7B5F7B4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38775"/>
            <a:ext cx="4248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Exemplo fictício com cinco analistas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238750" y="1704975"/>
          <a:ext xmlns:a="http://schemas.openxmlformats.org/drawingml/2006/main" cx="6238875" cy="4029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047875"/>
                <a:gridCol w="2000250"/>
              </a:tblGrid>
              <a:tr h="575582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3DEC9"/>
                          </a:solidFill>
                          <a:latin typeface="Arial"/>
                          <a:ea typeface="Arial"/>
                          <a:cs typeface="Arial"/>
                        </a:rPr>
                        <a:t>Abertura</a:t>
                      </a:r>
                    </a:p>
                  </a:txBody>
                  <a:tcPr marL="91440" marR="91440" marT="45720" marB="45720">
                    <a:solidFill>
                      <a:srgbClr val="2640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3DEC9"/>
                          </a:solidFill>
                          <a:latin typeface="Arial"/>
                          <a:ea typeface="Arial"/>
                          <a:cs typeface="Arial"/>
                        </a:rPr>
                        <a:t>Case</a:t>
                      </a:r>
                    </a:p>
                  </a:txBody>
                  <a:tcPr marL="91440" marR="91440" marT="45720" marB="45720">
                    <a:solidFill>
                      <a:srgbClr val="2640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3DEC9"/>
                          </a:solidFill>
                          <a:latin typeface="Arial"/>
                          <a:ea typeface="Arial"/>
                          <a:cs typeface="Arial"/>
                        </a:rPr>
                        <a:t>Responsável</a:t>
                      </a:r>
                    </a:p>
                  </a:txBody>
                  <a:tcPr marL="91440" marR="91440" marT="45720" marB="45720">
                    <a:solidFill>
                      <a:srgbClr val="264052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11/09 08h</a:t>
                      </a:r>
                    </a:p>
                  </a:txBody>
                  <a:tcPr marL="91440" marR="91440" marT="45720" marB="4572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00090001</a:t>
                      </a:r>
                    </a:p>
                  </a:txBody>
                  <a:tcPr marL="91440" marR="91440" marT="45720" marB="4572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Ana</a:t>
                      </a:r>
                    </a:p>
                  </a:txBody>
                  <a:tcPr marL="91440" marR="91440" marT="45720" marB="45720">
                    <a:solidFill>
                      <a:srgbClr val="101923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11/09 20h</a:t>
                      </a:r>
                    </a:p>
                  </a:txBody>
                  <a:tcPr marL="91440" marR="91440" marT="45720" marB="45720">
                    <a:solidFill>
                      <a:srgbClr val="1C29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00090002</a:t>
                      </a:r>
                    </a:p>
                  </a:txBody>
                  <a:tcPr marL="91440" marR="91440" marT="45720" marB="45720">
                    <a:solidFill>
                      <a:srgbClr val="1C29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Bruno</a:t>
                      </a:r>
                    </a:p>
                  </a:txBody>
                  <a:tcPr marL="91440" marR="91440" marT="45720" marB="45720">
                    <a:solidFill>
                      <a:srgbClr val="1C2938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12/09 08h</a:t>
                      </a:r>
                    </a:p>
                  </a:txBody>
                  <a:tcPr marL="91440" marR="91440" marT="45720" marB="4572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00090003</a:t>
                      </a:r>
                    </a:p>
                  </a:txBody>
                  <a:tcPr marL="91440" marR="91440" marT="45720" marB="4572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Carla</a:t>
                      </a:r>
                    </a:p>
                  </a:txBody>
                  <a:tcPr marL="91440" marR="91440" marT="45720" marB="45720">
                    <a:solidFill>
                      <a:srgbClr val="101923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12/09 20h</a:t>
                      </a:r>
                    </a:p>
                  </a:txBody>
                  <a:tcPr marL="91440" marR="91440" marT="45720" marB="45720">
                    <a:solidFill>
                      <a:srgbClr val="1C29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00090004</a:t>
                      </a:r>
                    </a:p>
                  </a:txBody>
                  <a:tcPr marL="91440" marR="91440" marT="45720" marB="45720">
                    <a:solidFill>
                      <a:srgbClr val="1C29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Diego</a:t>
                      </a:r>
                    </a:p>
                  </a:txBody>
                  <a:tcPr marL="91440" marR="91440" marT="45720" marB="45720">
                    <a:solidFill>
                      <a:srgbClr val="1C2938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13/09 08h</a:t>
                      </a:r>
                    </a:p>
                  </a:txBody>
                  <a:tcPr marL="91440" marR="91440" marT="45720" marB="4572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00090005</a:t>
                      </a:r>
                    </a:p>
                  </a:txBody>
                  <a:tcPr marL="91440" marR="91440" marT="45720" marB="4572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Elisa</a:t>
                      </a:r>
                    </a:p>
                  </a:txBody>
                  <a:tcPr marL="91440" marR="91440" marT="45720" marB="45720">
                    <a:solidFill>
                      <a:srgbClr val="101923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13/09 20h</a:t>
                      </a:r>
                    </a:p>
                  </a:txBody>
                  <a:tcPr marL="91440" marR="91440" marT="45720" marB="45720">
                    <a:solidFill>
                      <a:srgbClr val="1C29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00090006</a:t>
                      </a:r>
                    </a:p>
                  </a:txBody>
                  <a:tcPr marL="91440" marR="91440" marT="45720" marB="45720">
                    <a:solidFill>
                      <a:srgbClr val="1C29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2F6FA"/>
                          </a:solidFill>
                          <a:latin typeface="Arial"/>
                          <a:ea typeface="Arial"/>
                          <a:cs typeface="Arial"/>
                        </a:rPr>
                        <a:t>Ana</a:t>
                      </a:r>
                    </a:p>
                  </a:txBody>
                  <a:tcPr marL="91440" marR="91440" marT="45720" marB="45720">
                    <a:solidFill>
                      <a:srgbClr val="1C293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3407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CC24C7-36EA-4D7F-A775-E8EF21D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Como gerar a planilha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BF5375-4442-414A-A54C-CAD61304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C036D-DF1C-4D48-819A-83586706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619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63B581-57CB-4CD1-BD86-1D10767B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714500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Preparar a base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1C9EB-E65A-44C1-BFCA-FE4C1017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22885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Exportar .xlsx e revisar os cases em aguardo de chamado.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3D670D-3A97-413B-AD31-5461D2FF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905125"/>
            <a:ext cx="619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6B1B1-33E0-42E8-808E-C48A94F2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05125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Abrir Iniciar.bat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3C18D5-0B6C-4A0A-9D02-022D28C1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419475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Colar o caminho da base e informar a equipe do dia.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8D2C2-5529-4399-867E-A3217067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095750"/>
            <a:ext cx="619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205A3B-66BC-4B13-AA00-CEEA1159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95750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Conferir o resultado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9787BC-CF00-4272-B41B-31EFD483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6101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Abrir o arquivo gerado e verificar a aba Resumo.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CEBD6-7B20-426F-9621-E092D914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562600"/>
            <a:ext cx="981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AA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AAFFF"/>
                </a:solidFill>
                <a:latin typeface="Arial"/>
                <a:ea typeface="Arial"/>
                <a:cs typeface="Arial"/>
              </a:rPr>
              <a:t>Saída: Programa/Saidas/&lt;execucao&gt;/Resgate_DD-MM.xlsm</a:t>
            </a:r>
          </a:p>
        </p:txBody>
      </p:sp>
    </p:spTree>
    <p:extLst>
      <p:ext uri="{BB962C8B-B14F-4D97-AF65-F5344CB8AC3E}">
        <p14:creationId xmlns:p14="http://schemas.microsoft.com/office/powerpoint/2010/main" val="1109497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B7AD5D-FC69-4A57-A12D-61D786DA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Uso diário na aba Tracking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36C60A-BA12-4EAB-9550-9D193A9E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04C32C-327E-412E-BFD7-C526EFBE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362075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73DEC9"/>
                </a:solidFill>
                <a:latin typeface="Arial"/>
                <a:ea typeface="Arial"/>
                <a:cs typeface="Arial"/>
              </a:rPr>
              <a:t>Filtrar pelo responsável e atualizar STATUS, MOTIVO e OBSERVAÇÃO.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d03ea6a85d4ab8"/>
          <a:stretch xmlns:a="http://schemas.openxmlformats.org/drawingml/2006/main"/>
        </p:blipFill>
        <p:spPr>
          <a:xfrm xmlns:a="http://schemas.openxmlformats.org/drawingml/2006/main">
            <a:off x="600075" y="2456440"/>
            <a:ext cx="10972800" cy="237374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E5EAE-DCBE-41F9-B554-8AE57826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305425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 ordem de abertura orienta a fila de trabalho.</a:t>
            </a:r>
          </a:p>
          <a:p xmlns:a="http://schemas.openxmlformats.org/drawingml/2006/main">
            <a:pPr>
              <a:defRPr sz="195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O filtro organiza a visualização, sem restringir o acesso por pessoa.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DDB59-3C2E-44B6-9893-B03F1D39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76975"/>
            <a:ext cx="838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Dados fictícios para demonstração</a:t>
            </a:r>
          </a:p>
        </p:txBody>
      </p:sp>
    </p:spTree>
    <p:extLst>
      <p:ext uri="{BB962C8B-B14F-4D97-AF65-F5344CB8AC3E}">
        <p14:creationId xmlns:p14="http://schemas.microsoft.com/office/powerpoint/2010/main" val="17758939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95E918-CB68-4AB5-A063-69B8D5EF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Status do atendimento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A802C-64E6-40A7-9B04-81C4225C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3E661-2021-4F79-8A2D-58CC13B3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571625"/>
            <a:ext cx="323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8C8D7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B9ED06-E237-4CA5-B6BE-12930AA6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600200"/>
            <a:ext cx="7286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Ainda não iniciado.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B6704-3294-40A3-A92A-BD6ED634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343150"/>
            <a:ext cx="323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8AA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8AAFFF"/>
                </a:solidFill>
                <a:latin typeface="Arial"/>
                <a:ea typeface="Arial"/>
                <a:cs typeface="Arial"/>
              </a:rPr>
              <a:t>Em andamento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443F7D-C475-4D87-8521-88EBC19A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371725"/>
            <a:ext cx="7286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Case em tratamento.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8443D-258B-4A24-8680-603EEDD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14675"/>
            <a:ext cx="323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Concluído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4B2CA-F91A-4335-BCF5-9886B76A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143250"/>
            <a:ext cx="7286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Tratamento finalizado.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65729-CF39-406F-909D-B6C4EA09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86200"/>
            <a:ext cx="323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5CB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CB83"/>
                </a:solidFill>
                <a:latin typeface="Arial"/>
                <a:ea typeface="Arial"/>
                <a:cs typeface="Arial"/>
              </a:rPr>
              <a:t>Revisar depois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F92E21-0F3D-4E9E-B710-45D000C1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914775"/>
            <a:ext cx="7286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Retomar mais tarde com o mesmo responsável.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B0E1AA-5344-40A2-BF3C-4CA4D367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657725"/>
            <a:ext cx="323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C6ACF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C6ACFA"/>
                </a:solidFill>
                <a:latin typeface="Arial"/>
                <a:ea typeface="Arial"/>
                <a:cs typeface="Arial"/>
              </a:rPr>
              <a:t>Escalado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951F5-FF5B-47F6-BA50-F6D4A98C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686300"/>
            <a:ext cx="7286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Registrar destino e contexto em OBSERVAÇÃO.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43E8A3-1BF5-4E92-A016-11FAA5FC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7912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3DEC9"/>
                </a:solidFill>
                <a:latin typeface="Arial"/>
                <a:ea typeface="Arial"/>
                <a:cs typeface="Arial"/>
              </a:rPr>
              <a:t>Revisões e escalonamentos continuam contando como abertos.</a:t>
            </a:r>
          </a:p>
        </p:txBody>
      </p:sp>
    </p:spTree>
    <p:extLst>
      <p:ext uri="{BB962C8B-B14F-4D97-AF65-F5344CB8AC3E}">
        <p14:creationId xmlns:p14="http://schemas.microsoft.com/office/powerpoint/2010/main" val="15153383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6EBC3C-E0D0-4080-98FB-66A17A54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Visão do gestor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168209-7441-4BEE-AA26-62DBDF33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08b65e724d456a"/>
          <a:stretch xmlns:a="http://schemas.openxmlformats.org/drawingml/2006/main"/>
        </p:blipFill>
        <p:spPr>
          <a:xfrm xmlns:a="http://schemas.openxmlformats.org/drawingml/2006/main">
            <a:off x="533400" y="1774863"/>
            <a:ext cx="7715250" cy="405122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2DC87-F258-4CB3-B635-A625D73E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8592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Equipe ou analista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664D4-94FA-47E3-9142-A73A7F0D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95575"/>
            <a:ext cx="288607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Indicadores por fórmula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Progresso por pessoa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Abertura mais antiga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Alertas de preenchimento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77B82-5EEE-4FFE-89B6-EB07A0FE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857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Demonstração fictícia de uma etapa do dia</a:t>
            </a:r>
          </a:p>
        </p:txBody>
      </p:sp>
    </p:spTree>
    <p:extLst>
      <p:ext uri="{BB962C8B-B14F-4D97-AF65-F5344CB8AC3E}">
        <p14:creationId xmlns:p14="http://schemas.microsoft.com/office/powerpoint/2010/main" val="16151031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3FE538-3BE0-468F-92CF-F3CD8CA1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Resumo em PDF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1F4259-C119-47D5-A950-2FC9E5DD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F5521-E959-4673-B2E9-606D2E75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85925"/>
            <a:ext cx="1083945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2F6FA"/>
                </a:solidFill>
                <a:latin typeface="Arial"/>
                <a:ea typeface="Arial"/>
                <a:cs typeface="Arial"/>
              </a:rPr>
              <a:t>1  Escolher a equipe ou um analista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2F6FA"/>
                </a:solidFill>
                <a:latin typeface="Arial"/>
                <a:ea typeface="Arial"/>
                <a:cs typeface="Arial"/>
              </a:rPr>
              <a:t>2  Clicar em GERAR RESUMO 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2F6FA"/>
                </a:solidFill>
                <a:latin typeface="Arial"/>
                <a:ea typeface="Arial"/>
                <a:cs typeface="Arial"/>
              </a:rPr>
              <a:t>3  Consultar o arquivo que o Excel abre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D5838C-B6FF-4BE0-92B8-4A581F12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391025"/>
            <a:ext cx="10382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Relatorios_PDF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CE413E-8C20-4B4C-919D-084B7B66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67300"/>
            <a:ext cx="103822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Salvo ao lado da planilha, com data e hora no nome.</a:t>
            </a:r>
          </a:p>
          <a:p xmlns:a="http://schemas.openxmlformats.org/drawingml/2006/main">
            <a:pPr>
              <a:defRPr sz="195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O PDF registra a visão atual e não muda depois de emitido.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7AE76B-A01D-43B7-B08A-D9B82D7F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210300"/>
            <a:ext cx="1023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CB8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5CB83"/>
                </a:solidFill>
                <a:latin typeface="Arial"/>
                <a:ea typeface="Arial"/>
                <a:cs typeface="Arial"/>
              </a:rPr>
              <a:t>O botão requer Excel instalado e macros permitidas.</a:t>
            </a:r>
          </a:p>
        </p:txBody>
      </p:sp>
    </p:spTree>
    <p:extLst>
      <p:ext uri="{BB962C8B-B14F-4D97-AF65-F5344CB8AC3E}">
        <p14:creationId xmlns:p14="http://schemas.microsoft.com/office/powerpoint/2010/main" val="3290059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AE4D32-AA2F-43D9-ABF1-DAC58BE0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Acompanhamento compartilhado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52098-E00A-4823-A987-3BD6E37E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7DB2AC-C09E-4ED8-88EA-807B624E7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Um único arquivo para a equipe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1D34D-9EAC-444B-9EF9-9283BF96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10620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F2F6FA"/>
                </a:solidFill>
                <a:latin typeface="Arial"/>
                <a:ea typeface="Arial"/>
                <a:cs typeface="Arial"/>
              </a:rPr>
              <a:t>A tracking fica em uma biblioteca autorizada</a:t>
            </a:r>
          </a:p>
          <a:p xmlns:a="http://schemas.openxmlformats.org/drawingml/2006/main">
            <a:pPr>
              <a:defRPr sz="2475" b="0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F2F6FA"/>
                </a:solidFill>
                <a:latin typeface="Arial"/>
                <a:ea typeface="Arial"/>
                <a:cs typeface="Arial"/>
              </a:rPr>
              <a:t>do SharePoint Online ou OneDrive.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3C7AE-C45A-4C96-A844-A0269EEA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52925"/>
            <a:ext cx="103822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As atualizações dependem da sincronização e do cálculo.</a:t>
            </a:r>
          </a:p>
          <a:p xmlns:a="http://schemas.openxmlformats.org/drawingml/2006/main">
            <a:pPr>
              <a:defRPr sz="2100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Permissões de edição e coautoria precisam estar disponíveis.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259329-846F-431D-A53F-E157732B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95975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5CB8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CB83"/>
                </a:solidFill>
                <a:latin typeface="Arial"/>
                <a:ea typeface="Arial"/>
                <a:cs typeface="Arial"/>
              </a:rPr>
              <a:t>Cópias e anexos separados não se atualizam entre si.</a:t>
            </a:r>
          </a:p>
        </p:txBody>
      </p:sp>
    </p:spTree>
    <p:extLst>
      <p:ext uri="{BB962C8B-B14F-4D97-AF65-F5344CB8AC3E}">
        <p14:creationId xmlns:p14="http://schemas.microsoft.com/office/powerpoint/2010/main" val="17198950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9319A3-3D03-4CD9-9AB1-FFC7F63B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Como pode ajudar a operação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C98659-6F99-401C-A537-EDCB9A83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E443A-A208-4939-A7FB-F43A48F1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Menos separação 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F46697-DC38-4F10-B9A8-584B3FB5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1695450"/>
            <a:ext cx="64103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O programa preenche os responsáveis com uma regra consistente.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C7DF3-A42A-4E13-BCC5-E027ACE0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95575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Pendências mais visíveis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0B2991-0D35-49CB-B874-79E27B5F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733675"/>
            <a:ext cx="64103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O gestor consulta abertos, revisões e escalados no mesmo painel.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0E601-6320-46E2-8FAB-1F6E2C6C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Prioridade pela abertura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42B308-7AF1-4B20-BAAB-80F6696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3771900"/>
            <a:ext cx="64103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A fila ordenada ajuda a manter o foco nos cases mais antigos.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746B2B-A99D-4A17-B667-BE386A85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72025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Resumo durante o dia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96AF4C-834B-4C21-8244-F0A88165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810125"/>
            <a:ext cx="64103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O PDF registra o andamento no horário da consulta.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7AB603-F265-4ECB-A6AF-408C44EE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04837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O ganho de tempo e produtividade deve ser medido no piloto.</a:t>
            </a:r>
          </a:p>
        </p:txBody>
      </p:sp>
    </p:spTree>
    <p:extLst>
      <p:ext uri="{BB962C8B-B14F-4D97-AF65-F5344CB8AC3E}">
        <p14:creationId xmlns:p14="http://schemas.microsoft.com/office/powerpoint/2010/main" val="17080289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D6BC8E-DF90-44E4-8C16-1EBCA1B0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2F6F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2F6FA"/>
                </a:solidFill>
                <a:latin typeface="Arial"/>
                <a:ea typeface="Arial"/>
                <a:cs typeface="Arial"/>
              </a:rPr>
              <a:t>Uso atual e próximas evoluções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7032C3-AB72-405E-A845-84206B47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0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61F111-3D29-4E6A-9034-565A6E08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95450"/>
            <a:ext cx="50577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3DEC9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3DEC9"/>
                </a:solidFill>
                <a:latin typeface="Arial"/>
                <a:ea typeface="Arial"/>
                <a:cs typeface="Arial"/>
              </a:rPr>
              <a:t>Disponível na versão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2D414-15B6-4C7C-A41D-5058F444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4886325" cy="2314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Importação por Excel</a:t>
            </a:r>
          </a:p>
          <a:p xmlns:a="http://schemas.openxmlformats.org/drawingml/2006/main">
            <a:pPr>
              <a:defRPr sz="21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Distribuição equilibrada</a:t>
            </a:r>
          </a:p>
          <a:p xmlns:a="http://schemas.openxmlformats.org/drawingml/2006/main">
            <a:pPr>
              <a:defRPr sz="21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Tracking preenchida pela equipe</a:t>
            </a:r>
          </a:p>
          <a:p xmlns:a="http://schemas.openxmlformats.org/drawingml/2006/main">
            <a:pPr>
              <a:defRPr sz="21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Painel por fórmulas e PDF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84EC4-3E85-4B57-88B0-F7903C57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95450"/>
            <a:ext cx="50577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8AA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8AAFFF"/>
                </a:solidFill>
                <a:latin typeface="Arial"/>
                <a:ea typeface="Arial"/>
                <a:cs typeface="Arial"/>
              </a:rPr>
              <a:t>A avaliar com a 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1C71F0-4A7A-45BA-9847-3AC2745A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676525"/>
            <a:ext cx="4943475" cy="2314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Leitura por API autorizada</a:t>
            </a:r>
          </a:p>
          <a:p xmlns:a="http://schemas.openxmlformats.org/drawingml/2006/main">
            <a:pPr>
              <a:defRPr sz="21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Distribuição às 6h em dias úteis</a:t>
            </a:r>
          </a:p>
          <a:p xmlns:a="http://schemas.openxmlformats.org/drawingml/2006/main">
            <a:pPr>
              <a:defRPr sz="21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Equipes por faixas de abertura</a:t>
            </a:r>
          </a:p>
          <a:p xmlns:a="http://schemas.openxmlformats.org/drawingml/2006/main">
            <a:pPr>
              <a:defRPr sz="2175" b="0">
                <a:solidFill>
                  <a:srgbClr val="B8C8D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C8D7"/>
                </a:solidFill>
                <a:latin typeface="Arial"/>
                <a:ea typeface="Arial"/>
                <a:cs typeface="Arial"/>
              </a:rPr>
              <a:t>Histórico de tempos do atendimento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5EDB8A-D704-4C9D-8F92-F8A67ED0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25"/>
            <a:ext cx="1038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CB8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5CB83"/>
                </a:solidFill>
                <a:latin typeface="Arial"/>
                <a:ea typeface="Arial"/>
                <a:cs typeface="Arial"/>
              </a:rPr>
              <a:t>Primeiro passo: validar o uso diário com uma equipe piloto.</a:t>
            </a:r>
          </a:p>
        </p:txBody>
      </p:sp>
    </p:spTree>
    <p:extLst>
      <p:ext uri="{BB962C8B-B14F-4D97-AF65-F5344CB8AC3E}">
        <p14:creationId xmlns:p14="http://schemas.microsoft.com/office/powerpoint/2010/main" val="19577656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2026-09-30T17:16:15.3110000Z</dcterms:created>
  <dcterms:modified xsi:type="dcterms:W3CDTF">2026-09-30T17:16:15.3110000Z</dcterms:modified>
</coreProperties>
</file>